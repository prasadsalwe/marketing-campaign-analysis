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58" r:id="rId4"/>
    <p:sldId id="260" r:id="rId5"/>
    <p:sldId id="261" r:id="rId6"/>
    <p:sldId id="263" r:id="rId7"/>
    <p:sldId id="264" r:id="rId8"/>
    <p:sldId id="266" r:id="rId9"/>
    <p:sldId id="268" r:id="rId10"/>
    <p:sldId id="269" r:id="rId11"/>
    <p:sldId id="270" r:id="rId12"/>
    <p:sldId id="271" r:id="rId13"/>
    <p:sldId id="257" r:id="rId14"/>
    <p:sldId id="259" r:id="rId15"/>
    <p:sldId id="262" r:id="rId16"/>
    <p:sldId id="265" r:id="rId17"/>
    <p:sldId id="267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salwe\OneDrive%20-%20DPDHL\Documents\Analytics%20Shiksha\SQL\Case%20Study%20Marketing%20Campaign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'OverView of Data'!$P$16</c:f>
              <c:strCache>
                <c:ptCount val="1"/>
                <c:pt idx="0">
                  <c:v>Total transactions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'OverView of Data'!$O$17:$O$21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numCache>
            </c:numRef>
          </c:cat>
          <c:val>
            <c:numRef>
              <c:f>'OverView of Data'!$P$17:$P$21</c:f>
              <c:numCache>
                <c:formatCode>General</c:formatCode>
                <c:ptCount val="5"/>
                <c:pt idx="0">
                  <c:v>62</c:v>
                </c:pt>
                <c:pt idx="1">
                  <c:v>102</c:v>
                </c:pt>
                <c:pt idx="2">
                  <c:v>67</c:v>
                </c:pt>
                <c:pt idx="3">
                  <c:v>63</c:v>
                </c:pt>
                <c:pt idx="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746-4B66-B487-67B2238956A2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366901151"/>
        <c:axId val="366901631"/>
      </c:lineChart>
      <c:catAx>
        <c:axId val="36690115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6901631"/>
        <c:crosses val="autoZero"/>
        <c:auto val="1"/>
        <c:lblAlgn val="ctr"/>
        <c:lblOffset val="100"/>
        <c:noMultiLvlLbl val="0"/>
      </c:catAx>
      <c:valAx>
        <c:axId val="36690163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No of Transactions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6690115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Quarterly</a:t>
            </a:r>
            <a:r>
              <a:rPr lang="en-IN" baseline="0"/>
              <a:t> Transactions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'OverView of Data'!$U$16</c:f>
              <c:strCache>
                <c:ptCount val="1"/>
                <c:pt idx="0">
                  <c:v>count(trans_id)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'OverView of Data'!$T$17:$T$20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cat>
          <c:val>
            <c:numRef>
              <c:f>'OverView of Data'!$U$17:$U$20</c:f>
              <c:numCache>
                <c:formatCode>General</c:formatCode>
                <c:ptCount val="4"/>
                <c:pt idx="0">
                  <c:v>67</c:v>
                </c:pt>
                <c:pt idx="1">
                  <c:v>31</c:v>
                </c:pt>
                <c:pt idx="2">
                  <c:v>72</c:v>
                </c:pt>
                <c:pt idx="3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34-4B2C-A232-2545AD34D94B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070064592"/>
        <c:axId val="1907594736"/>
      </c:lineChart>
      <c:catAx>
        <c:axId val="1070064592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Quarter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07594736"/>
        <c:crosses val="autoZero"/>
        <c:auto val="1"/>
        <c:lblAlgn val="ctr"/>
        <c:lblOffset val="100"/>
        <c:noMultiLvlLbl val="0"/>
      </c:catAx>
      <c:valAx>
        <c:axId val="1907594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No</a:t>
                </a:r>
                <a:r>
                  <a:rPr lang="en-IN" baseline="0"/>
                  <a:t> of Transactions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006459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Yearly-Monthly Transactions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Lit>
              <c:ptCount val="44"/>
              <c:pt idx="0">
                <c:v>2019 January</c:v>
              </c:pt>
              <c:pt idx="1">
                <c:v>2019 March</c:v>
              </c:pt>
              <c:pt idx="2">
                <c:v>2019 April</c:v>
              </c:pt>
              <c:pt idx="3">
                <c:v>2019 June</c:v>
              </c:pt>
              <c:pt idx="4">
                <c:v>2019 July</c:v>
              </c:pt>
              <c:pt idx="5">
                <c:v>2019 August</c:v>
              </c:pt>
              <c:pt idx="6">
                <c:v>2019 December</c:v>
              </c:pt>
              <c:pt idx="7">
                <c:v>2020 January</c:v>
              </c:pt>
              <c:pt idx="8">
                <c:v>2020 February</c:v>
              </c:pt>
              <c:pt idx="9">
                <c:v>2020 March</c:v>
              </c:pt>
              <c:pt idx="10">
                <c:v>2020 April</c:v>
              </c:pt>
              <c:pt idx="11">
                <c:v>2020 May</c:v>
              </c:pt>
              <c:pt idx="12">
                <c:v>2020 June</c:v>
              </c:pt>
              <c:pt idx="13">
                <c:v>2020 July</c:v>
              </c:pt>
              <c:pt idx="14">
                <c:v>2020 August</c:v>
              </c:pt>
              <c:pt idx="15">
                <c:v>2020 September</c:v>
              </c:pt>
              <c:pt idx="16">
                <c:v>2020 October</c:v>
              </c:pt>
              <c:pt idx="17">
                <c:v>2020 November</c:v>
              </c:pt>
              <c:pt idx="18">
                <c:v>2020 December</c:v>
              </c:pt>
              <c:pt idx="19">
                <c:v>2021 January</c:v>
              </c:pt>
              <c:pt idx="20">
                <c:v>2021 February</c:v>
              </c:pt>
              <c:pt idx="21">
                <c:v>2021 March</c:v>
              </c:pt>
              <c:pt idx="22">
                <c:v>2021 April</c:v>
              </c:pt>
              <c:pt idx="23">
                <c:v>2021 May</c:v>
              </c:pt>
              <c:pt idx="24">
                <c:v>2021 June</c:v>
              </c:pt>
              <c:pt idx="25">
                <c:v>2021 July</c:v>
              </c:pt>
              <c:pt idx="26">
                <c:v>2021 August</c:v>
              </c:pt>
              <c:pt idx="27">
                <c:v>2021 September</c:v>
              </c:pt>
              <c:pt idx="28">
                <c:v>2021 October</c:v>
              </c:pt>
              <c:pt idx="29">
                <c:v>2021 November</c:v>
              </c:pt>
              <c:pt idx="30">
                <c:v>2021 December</c:v>
              </c:pt>
              <c:pt idx="31">
                <c:v>2022 January</c:v>
              </c:pt>
              <c:pt idx="32">
                <c:v>2022 February</c:v>
              </c:pt>
              <c:pt idx="33">
                <c:v>2022 March</c:v>
              </c:pt>
              <c:pt idx="34">
                <c:v>2022 April</c:v>
              </c:pt>
              <c:pt idx="35">
                <c:v>2022 May</c:v>
              </c:pt>
              <c:pt idx="36">
                <c:v>2022 June</c:v>
              </c:pt>
              <c:pt idx="37">
                <c:v>2022 July</c:v>
              </c:pt>
              <c:pt idx="38">
                <c:v>2022 August</c:v>
              </c:pt>
              <c:pt idx="39">
                <c:v>2022 September</c:v>
              </c:pt>
              <c:pt idx="40">
                <c:v>2022 October</c:v>
              </c:pt>
              <c:pt idx="41">
                <c:v>2022 November</c:v>
              </c:pt>
              <c:pt idx="42">
                <c:v>2022 December</c:v>
              </c:pt>
              <c:pt idx="43">
                <c:v>2023 March</c:v>
              </c:pt>
            </c:strLit>
          </c:cat>
          <c:val>
            <c:numLit>
              <c:formatCode>General</c:formatCode>
              <c:ptCount val="44"/>
              <c:pt idx="0">
                <c:v>29</c:v>
              </c:pt>
              <c:pt idx="1">
                <c:v>2</c:v>
              </c:pt>
              <c:pt idx="2">
                <c:v>5</c:v>
              </c:pt>
              <c:pt idx="3">
                <c:v>2</c:v>
              </c:pt>
              <c:pt idx="4">
                <c:v>1</c:v>
              </c:pt>
              <c:pt idx="5">
                <c:v>1</c:v>
              </c:pt>
              <c:pt idx="6">
                <c:v>22</c:v>
              </c:pt>
              <c:pt idx="7">
                <c:v>5</c:v>
              </c:pt>
              <c:pt idx="8">
                <c:v>4</c:v>
              </c:pt>
              <c:pt idx="9">
                <c:v>2</c:v>
              </c:pt>
              <c:pt idx="10">
                <c:v>3</c:v>
              </c:pt>
              <c:pt idx="11">
                <c:v>5</c:v>
              </c:pt>
              <c:pt idx="12">
                <c:v>1</c:v>
              </c:pt>
              <c:pt idx="13">
                <c:v>26</c:v>
              </c:pt>
              <c:pt idx="14">
                <c:v>1</c:v>
              </c:pt>
              <c:pt idx="15">
                <c:v>4</c:v>
              </c:pt>
              <c:pt idx="16">
                <c:v>2</c:v>
              </c:pt>
              <c:pt idx="17">
                <c:v>1</c:v>
              </c:pt>
              <c:pt idx="18">
                <c:v>48</c:v>
              </c:pt>
              <c:pt idx="19">
                <c:v>4</c:v>
              </c:pt>
              <c:pt idx="20">
                <c:v>2</c:v>
              </c:pt>
              <c:pt idx="21">
                <c:v>7</c:v>
              </c:pt>
              <c:pt idx="22">
                <c:v>3</c:v>
              </c:pt>
              <c:pt idx="23">
                <c:v>4</c:v>
              </c:pt>
              <c:pt idx="24">
                <c:v>1</c:v>
              </c:pt>
              <c:pt idx="25">
                <c:v>22</c:v>
              </c:pt>
              <c:pt idx="26">
                <c:v>1</c:v>
              </c:pt>
              <c:pt idx="27">
                <c:v>6</c:v>
              </c:pt>
              <c:pt idx="28">
                <c:v>4</c:v>
              </c:pt>
              <c:pt idx="29">
                <c:v>9</c:v>
              </c:pt>
              <c:pt idx="30">
                <c:v>4</c:v>
              </c:pt>
              <c:pt idx="31">
                <c:v>1</c:v>
              </c:pt>
              <c:pt idx="32">
                <c:v>3</c:v>
              </c:pt>
              <c:pt idx="33">
                <c:v>2</c:v>
              </c:pt>
              <c:pt idx="34">
                <c:v>4</c:v>
              </c:pt>
              <c:pt idx="35">
                <c:v>1</c:v>
              </c:pt>
              <c:pt idx="36">
                <c:v>2</c:v>
              </c:pt>
              <c:pt idx="37">
                <c:v>4</c:v>
              </c:pt>
              <c:pt idx="38">
                <c:v>3</c:v>
              </c:pt>
              <c:pt idx="39">
                <c:v>3</c:v>
              </c:pt>
              <c:pt idx="40">
                <c:v>3</c:v>
              </c:pt>
              <c:pt idx="41">
                <c:v>3</c:v>
              </c:pt>
              <c:pt idx="42">
                <c:v>34</c:v>
              </c:pt>
              <c:pt idx="43">
                <c:v>6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7BC2-4CE1-872F-63076A49AD24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23985648"/>
        <c:axId val="523983728"/>
      </c:lineChart>
      <c:catAx>
        <c:axId val="523985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3983728"/>
        <c:crosses val="autoZero"/>
        <c:auto val="1"/>
        <c:lblAlgn val="ctr"/>
        <c:lblOffset val="100"/>
        <c:noMultiLvlLbl val="0"/>
      </c:catAx>
      <c:valAx>
        <c:axId val="5239837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398564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Total</a:t>
            </a:r>
            <a:r>
              <a:rPr lang="en-IN" baseline="0" dirty="0"/>
              <a:t> Sales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'OverView of Data'!$Y$4</c:f>
              <c:strCache>
                <c:ptCount val="1"/>
                <c:pt idx="0">
                  <c:v>sum(ctd.purchasingamt)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'OverView of Data'!$W$5:$W$9</c:f>
              <c:strCache>
                <c:ptCount val="5"/>
                <c:pt idx="0">
                  <c:v>Anti-Corrosive Paint</c:v>
                </c:pt>
                <c:pt idx="1">
                  <c:v>Emulsion Paint</c:v>
                </c:pt>
                <c:pt idx="2">
                  <c:v>Enamel Paint</c:v>
                </c:pt>
                <c:pt idx="3">
                  <c:v>Oil Paint</c:v>
                </c:pt>
                <c:pt idx="4">
                  <c:v>Synthetic paint</c:v>
                </c:pt>
              </c:strCache>
            </c:strRef>
          </c:cat>
          <c:val>
            <c:numRef>
              <c:f>'OverView of Data'!$Y$5:$Y$9</c:f>
              <c:numCache>
                <c:formatCode>0</c:formatCode>
                <c:ptCount val="5"/>
                <c:pt idx="0" formatCode="General">
                  <c:v>2971726</c:v>
                </c:pt>
                <c:pt idx="1">
                  <c:v>1461232.45</c:v>
                </c:pt>
                <c:pt idx="2">
                  <c:v>1744245.1</c:v>
                </c:pt>
                <c:pt idx="3">
                  <c:v>3249531.25</c:v>
                </c:pt>
                <c:pt idx="4">
                  <c:v>1419274.1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06-467C-9E8E-4DD5E038FF9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96677296"/>
        <c:axId val="1596683056"/>
      </c:barChart>
      <c:catAx>
        <c:axId val="159667729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Category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6683056"/>
        <c:crosses val="autoZero"/>
        <c:auto val="1"/>
        <c:lblAlgn val="ctr"/>
        <c:lblOffset val="100"/>
        <c:noMultiLvlLbl val="0"/>
      </c:catAx>
      <c:valAx>
        <c:axId val="1596683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Sales</a:t>
                </a:r>
                <a:r>
                  <a:rPr lang="en-IN" baseline="0" dirty="0"/>
                  <a:t> Amount</a:t>
                </a:r>
                <a:endParaRPr lang="en-IN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66772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Yearly &amp; Quarterly</a:t>
            </a:r>
            <a:r>
              <a:rPr lang="en-IN" baseline="0" dirty="0"/>
              <a:t> Sales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v>Total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Lit>
              <c:ptCount val="17"/>
              <c:pt idx="0">
                <c:v>2019 January</c:v>
              </c:pt>
              <c:pt idx="1">
                <c:v>2019 February</c:v>
              </c:pt>
              <c:pt idx="2">
                <c:v>2019 March</c:v>
              </c:pt>
              <c:pt idx="3">
                <c:v>2019 April</c:v>
              </c:pt>
              <c:pt idx="4">
                <c:v>2020 January</c:v>
              </c:pt>
              <c:pt idx="5">
                <c:v>2020 February</c:v>
              </c:pt>
              <c:pt idx="6">
                <c:v>2020 March</c:v>
              </c:pt>
              <c:pt idx="7">
                <c:v>2020 April</c:v>
              </c:pt>
              <c:pt idx="8">
                <c:v>2021 January</c:v>
              </c:pt>
              <c:pt idx="9">
                <c:v>2021 February</c:v>
              </c:pt>
              <c:pt idx="10">
                <c:v>2021 March</c:v>
              </c:pt>
              <c:pt idx="11">
                <c:v>2021 April</c:v>
              </c:pt>
              <c:pt idx="12">
                <c:v>2022 January</c:v>
              </c:pt>
              <c:pt idx="13">
                <c:v>2022 February</c:v>
              </c:pt>
              <c:pt idx="14">
                <c:v>2022 March</c:v>
              </c:pt>
              <c:pt idx="15">
                <c:v>2022 April</c:v>
              </c:pt>
              <c:pt idx="16">
                <c:v>2023 January</c:v>
              </c:pt>
            </c:strLit>
          </c:cat>
          <c:val>
            <c:numLit>
              <c:formatCode>General</c:formatCode>
              <c:ptCount val="17"/>
              <c:pt idx="0">
                <c:v>805949.55</c:v>
              </c:pt>
              <c:pt idx="1">
                <c:v>155753</c:v>
              </c:pt>
              <c:pt idx="2">
                <c:v>56645</c:v>
              </c:pt>
              <c:pt idx="3">
                <c:v>653497.59999999998</c:v>
              </c:pt>
              <c:pt idx="4">
                <c:v>359661.3</c:v>
              </c:pt>
              <c:pt idx="5">
                <c:v>510836</c:v>
              </c:pt>
              <c:pt idx="6">
                <c:v>1052180.3</c:v>
              </c:pt>
              <c:pt idx="7">
                <c:v>1611225.6</c:v>
              </c:pt>
              <c:pt idx="8">
                <c:v>795736.1</c:v>
              </c:pt>
              <c:pt idx="9">
                <c:v>451836</c:v>
              </c:pt>
              <c:pt idx="10">
                <c:v>1061711</c:v>
              </c:pt>
              <c:pt idx="11">
                <c:v>850159.1</c:v>
              </c:pt>
              <c:pt idx="12">
                <c:v>141928.4</c:v>
              </c:pt>
              <c:pt idx="13">
                <c:v>236980.3</c:v>
              </c:pt>
              <c:pt idx="14">
                <c:v>629261.4</c:v>
              </c:pt>
              <c:pt idx="15">
                <c:v>1174346.25</c:v>
              </c:pt>
              <c:pt idx="16">
                <c:v>298302</c:v>
              </c:pt>
            </c:numLit>
          </c:val>
          <c:smooth val="0"/>
          <c:extLst>
            <c:ext xmlns:c16="http://schemas.microsoft.com/office/drawing/2014/chart" uri="{C3380CC4-5D6E-409C-BE32-E72D297353CC}">
              <c16:uniqueId val="{00000000-82CA-4E29-8CBD-90925944B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27707072"/>
        <c:axId val="527707552"/>
      </c:lineChart>
      <c:catAx>
        <c:axId val="5277070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7707552"/>
        <c:crosses val="autoZero"/>
        <c:auto val="1"/>
        <c:lblAlgn val="ctr"/>
        <c:lblOffset val="100"/>
        <c:noMultiLvlLbl val="0"/>
      </c:catAx>
      <c:valAx>
        <c:axId val="527707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277070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Sales by</a:t>
            </a:r>
            <a:r>
              <a:rPr lang="en-IN" baseline="0" dirty="0"/>
              <a:t> City Tier 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'OverView of Data'!$N$28</c:f>
              <c:strCache>
                <c:ptCount val="1"/>
                <c:pt idx="0">
                  <c:v>citytier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'OverView of Data'!$N$29:$N$31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75-4D2C-91CE-B702A36A638C}"/>
            </c:ext>
          </c:extLst>
        </c:ser>
        <c:ser>
          <c:idx val="1"/>
          <c:order val="1"/>
          <c:tx>
            <c:strRef>
              <c:f>'OverView of Data'!$O$28</c:f>
              <c:strCache>
                <c:ptCount val="1"/>
                <c:pt idx="0">
                  <c:v>sum(ctd.purchasingamt)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C75-4D2C-91CE-B702A36A638C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C75-4D2C-91CE-B702A36A638C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C75-4D2C-91CE-B702A36A638C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'OverView of Data'!$O$29:$O$31</c:f>
              <c:numCache>
                <c:formatCode>General</c:formatCode>
                <c:ptCount val="3"/>
                <c:pt idx="0">
                  <c:v>6733845.75</c:v>
                </c:pt>
                <c:pt idx="1">
                  <c:v>2914130.45</c:v>
                </c:pt>
                <c:pt idx="2">
                  <c:v>1198032.7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C75-4D2C-91CE-B702A36A638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25796624"/>
        <c:axId val="1225799024"/>
      </c:barChart>
      <c:catAx>
        <c:axId val="12257966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City Tier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5799024"/>
        <c:crosses val="autoZero"/>
        <c:auto val="1"/>
        <c:lblAlgn val="ctr"/>
        <c:lblOffset val="100"/>
        <c:noMultiLvlLbl val="0"/>
      </c:catAx>
      <c:valAx>
        <c:axId val="1225799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Sales Amount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57966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Sales</a:t>
            </a:r>
            <a:r>
              <a:rPr lang="en-US" baseline="0"/>
              <a:t> by Order Type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'OverView of Data'!$T$28</c:f>
              <c:strCache>
                <c:ptCount val="1"/>
                <c:pt idx="0">
                  <c:v>sum(ctd.purchasingamt)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'OverView of Data'!$S$29:$S$31</c:f>
              <c:strCache>
                <c:ptCount val="3"/>
                <c:pt idx="0">
                  <c:v>Household</c:v>
                </c:pt>
                <c:pt idx="1">
                  <c:v>Government</c:v>
                </c:pt>
                <c:pt idx="2">
                  <c:v>Industrial</c:v>
                </c:pt>
              </c:strCache>
            </c:strRef>
          </c:cat>
          <c:val>
            <c:numRef>
              <c:f>'OverView of Data'!$T$29:$T$31</c:f>
              <c:numCache>
                <c:formatCode>0</c:formatCode>
                <c:ptCount val="3"/>
                <c:pt idx="0">
                  <c:v>4190981</c:v>
                </c:pt>
                <c:pt idx="1">
                  <c:v>3929598</c:v>
                </c:pt>
                <c:pt idx="2">
                  <c:v>2725429.9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50-4186-8BED-E02AC5AB812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91773616"/>
        <c:axId val="1591772656"/>
      </c:barChart>
      <c:catAx>
        <c:axId val="1591773616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Order</a:t>
                </a:r>
                <a:r>
                  <a:rPr lang="en-IN" baseline="0"/>
                  <a:t>  Type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1772656"/>
        <c:crosses val="autoZero"/>
        <c:auto val="1"/>
        <c:lblAlgn val="ctr"/>
        <c:lblOffset val="100"/>
        <c:noMultiLvlLbl val="0"/>
      </c:catAx>
      <c:valAx>
        <c:axId val="1591772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Sales Amount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17736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Total Transactions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DED-407B-AD65-90E118837D0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DED-407B-AD65-90E118837D0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'Lead Convertions'!$H$7:$I$7</c:f>
              <c:strCache>
                <c:ptCount val="2"/>
                <c:pt idx="0">
                  <c:v>transactions_with_campaign_coupon</c:v>
                </c:pt>
                <c:pt idx="1">
                  <c:v>transactions_without_campaign_coupon</c:v>
                </c:pt>
              </c:strCache>
            </c:strRef>
          </c:cat>
          <c:val>
            <c:numRef>
              <c:f>'Lead Convertions'!$H$8:$I$8</c:f>
              <c:numCache>
                <c:formatCode>General</c:formatCode>
                <c:ptCount val="2"/>
                <c:pt idx="0">
                  <c:v>186</c:v>
                </c:pt>
                <c:pt idx="1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DED-407B-AD65-90E118837D0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First Purchase Customers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985-40A4-9152-B8B11FB792E1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4985-40A4-9152-B8B11FB792E1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'Lead Convertions'!$H$17:$I$17</c:f>
              <c:strCache>
                <c:ptCount val="2"/>
                <c:pt idx="0">
                  <c:v>customers_first_purchase_with_campaign</c:v>
                </c:pt>
                <c:pt idx="1">
                  <c:v>customers_first_purchase_without_campaign</c:v>
                </c:pt>
              </c:strCache>
            </c:strRef>
          </c:cat>
          <c:val>
            <c:numRef>
              <c:f>'Lead Convertions'!$H$18:$I$18</c:f>
              <c:numCache>
                <c:formatCode>General</c:formatCode>
                <c:ptCount val="2"/>
                <c:pt idx="0">
                  <c:v>94</c:v>
                </c:pt>
                <c:pt idx="1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85-40A4-9152-B8B11FB792E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Unique Users Compaign</a:t>
            </a:r>
            <a:r>
              <a:rPr lang="en-IN" baseline="0"/>
              <a:t> Impact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'Lead Convertions'!$F$38:$G$38</c:f>
              <c:strCache>
                <c:ptCount val="2"/>
                <c:pt idx="0">
                  <c:v>unique_users_with_campaign_coupon</c:v>
                </c:pt>
                <c:pt idx="1">
                  <c:v>unique_users_without_campaign_coupon</c:v>
                </c:pt>
              </c:strCache>
            </c:strRef>
          </c:cat>
          <c:val>
            <c:numRef>
              <c:f>'Lead Convertions'!$F$39:$G$39</c:f>
              <c:numCache>
                <c:formatCode>General</c:formatCode>
                <c:ptCount val="2"/>
                <c:pt idx="0">
                  <c:v>100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91-45D7-8454-397F90BBFC4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96660496"/>
        <c:axId val="1596686416"/>
      </c:barChart>
      <c:catAx>
        <c:axId val="1596660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6686416"/>
        <c:crosses val="autoZero"/>
        <c:auto val="1"/>
        <c:lblAlgn val="ctr"/>
        <c:lblOffset val="100"/>
        <c:noMultiLvlLbl val="0"/>
      </c:catAx>
      <c:valAx>
        <c:axId val="15966864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6660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Total 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'Lead Convertions'!$F$55:$H$55</c:f>
              <c:strCache>
                <c:ptCount val="3"/>
                <c:pt idx="0">
                  <c:v>purchase_amt_campaign_coupon</c:v>
                </c:pt>
                <c:pt idx="1">
                  <c:v>purchase_amt_normal_coupon</c:v>
                </c:pt>
                <c:pt idx="2">
                  <c:v>purchase_amt_no_coupon</c:v>
                </c:pt>
              </c:strCache>
            </c:strRef>
          </c:cat>
          <c:val>
            <c:numRef>
              <c:f>'Lead Convertions'!$F$56:$H$56</c:f>
              <c:numCache>
                <c:formatCode>General</c:formatCode>
                <c:ptCount val="3"/>
                <c:pt idx="0">
                  <c:v>5067639.8</c:v>
                </c:pt>
                <c:pt idx="1">
                  <c:v>2808873.1</c:v>
                </c:pt>
                <c:pt idx="2">
                  <c:v>2969496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11-4B7C-8A65-80A8AECE2FD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15908560"/>
        <c:axId val="1515907600"/>
      </c:barChart>
      <c:catAx>
        <c:axId val="15159085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5907600"/>
        <c:crosses val="autoZero"/>
        <c:auto val="1"/>
        <c:lblAlgn val="ctr"/>
        <c:lblOffset val="100"/>
        <c:noMultiLvlLbl val="0"/>
      </c:catAx>
      <c:valAx>
        <c:axId val="15159076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1590856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Total Quantities Sold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'Company Growth'!$C$5</c:f>
              <c:strCache>
                <c:ptCount val="1"/>
                <c:pt idx="0">
                  <c:v>sum(ctd.quantity)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'Company Growth'!$B$6:$B$10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numCache>
            </c:numRef>
          </c:cat>
          <c:val>
            <c:numRef>
              <c:f>'Company Growth'!$C$6:$C$10</c:f>
              <c:numCache>
                <c:formatCode>General</c:formatCode>
                <c:ptCount val="5"/>
                <c:pt idx="0">
                  <c:v>4546</c:v>
                </c:pt>
                <c:pt idx="1">
                  <c:v>9888</c:v>
                </c:pt>
                <c:pt idx="2">
                  <c:v>9184</c:v>
                </c:pt>
                <c:pt idx="3">
                  <c:v>6532</c:v>
                </c:pt>
                <c:pt idx="4">
                  <c:v>574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30-46AB-896D-F87DF313F49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1509239520"/>
        <c:axId val="1509238080"/>
      </c:lineChart>
      <c:catAx>
        <c:axId val="15092395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9238080"/>
        <c:crosses val="autoZero"/>
        <c:auto val="1"/>
        <c:lblAlgn val="ctr"/>
        <c:lblOffset val="100"/>
        <c:noMultiLvlLbl val="0"/>
      </c:catAx>
      <c:valAx>
        <c:axId val="15092380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dirty="0"/>
                  <a:t>No of Quantities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09239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Yearly</a:t>
            </a:r>
            <a:r>
              <a:rPr lang="en-IN" baseline="0"/>
              <a:t> Sales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'Company Growth'!$D$5</c:f>
              <c:strCache>
                <c:ptCount val="1"/>
                <c:pt idx="0">
                  <c:v>sum(ctd.PurchasingAmt)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'Company Growth'!$B$6:$B$10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numCache>
            </c:numRef>
          </c:xVal>
          <c:yVal>
            <c:numRef>
              <c:f>'Company Growth'!$D$6:$D$10</c:f>
              <c:numCache>
                <c:formatCode>0</c:formatCode>
                <c:ptCount val="5"/>
                <c:pt idx="0">
                  <c:v>1671845.15</c:v>
                </c:pt>
                <c:pt idx="1">
                  <c:v>3533903.2</c:v>
                </c:pt>
                <c:pt idx="2">
                  <c:v>3159442.2</c:v>
                </c:pt>
                <c:pt idx="3">
                  <c:v>2182516.35</c:v>
                </c:pt>
                <c:pt idx="4">
                  <c:v>298302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9F5-4574-A6D6-CF8D634C84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91774576"/>
        <c:axId val="1591775056"/>
      </c:scatterChart>
      <c:valAx>
        <c:axId val="15917745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1775056"/>
        <c:crosses val="autoZero"/>
        <c:crossBetween val="midCat"/>
      </c:valAx>
      <c:valAx>
        <c:axId val="15917750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Sales</a:t>
                </a:r>
                <a:r>
                  <a:rPr lang="en-IN" baseline="0"/>
                  <a:t> Amount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917745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/>
              <a:t>Total Customers by Order Type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v>Total</c:v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Lit>
              <c:ptCount val="12"/>
              <c:pt idx="0">
                <c:v>Government 2020</c:v>
              </c:pt>
              <c:pt idx="1">
                <c:v>Government 2021</c:v>
              </c:pt>
              <c:pt idx="2">
                <c:v>Government 2022</c:v>
              </c:pt>
              <c:pt idx="3">
                <c:v>Household 2019</c:v>
              </c:pt>
              <c:pt idx="4">
                <c:v>Household 2020</c:v>
              </c:pt>
              <c:pt idx="5">
                <c:v>Household 2021</c:v>
              </c:pt>
              <c:pt idx="6">
                <c:v>Household 2022</c:v>
              </c:pt>
              <c:pt idx="7">
                <c:v>Industrial 2019</c:v>
              </c:pt>
              <c:pt idx="8">
                <c:v>Industrial 2020</c:v>
              </c:pt>
              <c:pt idx="9">
                <c:v>Industrial 2021</c:v>
              </c:pt>
              <c:pt idx="10">
                <c:v>Industrial 2022</c:v>
              </c:pt>
              <c:pt idx="11">
                <c:v>Industrial 2023</c:v>
              </c:pt>
            </c:strLit>
          </c:cat>
          <c:val>
            <c:numLit>
              <c:formatCode>General</c:formatCode>
              <c:ptCount val="12"/>
              <c:pt idx="0">
                <c:v>8</c:v>
              </c:pt>
              <c:pt idx="1">
                <c:v>8</c:v>
              </c:pt>
              <c:pt idx="2">
                <c:v>1</c:v>
              </c:pt>
              <c:pt idx="3">
                <c:v>43</c:v>
              </c:pt>
              <c:pt idx="4">
                <c:v>31</c:v>
              </c:pt>
              <c:pt idx="5">
                <c:v>7</c:v>
              </c:pt>
              <c:pt idx="6">
                <c:v>7</c:v>
              </c:pt>
              <c:pt idx="7">
                <c:v>8</c:v>
              </c:pt>
              <c:pt idx="8">
                <c:v>11</c:v>
              </c:pt>
              <c:pt idx="9">
                <c:v>3</c:v>
              </c:pt>
              <c:pt idx="10">
                <c:v>5</c:v>
              </c:pt>
              <c:pt idx="11">
                <c:v>1</c:v>
              </c:pt>
            </c:numLit>
          </c:val>
          <c:extLst>
            <c:ext xmlns:c16="http://schemas.microsoft.com/office/drawing/2014/chart" uri="{C3380CC4-5D6E-409C-BE32-E72D297353CC}">
              <c16:uniqueId val="{00000000-96A0-4D01-BF61-183D0EB3D6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70633375"/>
        <c:axId val="370635775"/>
      </c:barChart>
      <c:catAx>
        <c:axId val="37063337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Order 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635775"/>
        <c:crosses val="autoZero"/>
        <c:auto val="1"/>
        <c:lblAlgn val="ctr"/>
        <c:lblOffset val="100"/>
        <c:noMultiLvlLbl val="0"/>
      </c:catAx>
      <c:valAx>
        <c:axId val="37063577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No of Customers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706333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/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'Company Growth'!$C$68</c:f>
              <c:strCache>
                <c:ptCount val="1"/>
                <c:pt idx="0">
                  <c:v>unique_customers_reached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'Company Growth'!$B$69:$B$72</c:f>
              <c:strCache>
                <c:ptCount val="4"/>
                <c:pt idx="0">
                  <c:v>Seasonal Push</c:v>
                </c:pt>
                <c:pt idx="1">
                  <c:v>Brand Awareness</c:v>
                </c:pt>
                <c:pt idx="2">
                  <c:v>Product Launch</c:v>
                </c:pt>
                <c:pt idx="3">
                  <c:v>Rebranding campaign</c:v>
                </c:pt>
              </c:strCache>
            </c:strRef>
          </c:cat>
          <c:val>
            <c:numRef>
              <c:f>'Company Growth'!$C$69:$C$72</c:f>
              <c:numCache>
                <c:formatCode>General</c:formatCode>
                <c:ptCount val="4"/>
                <c:pt idx="0">
                  <c:v>55</c:v>
                </c:pt>
                <c:pt idx="1">
                  <c:v>49</c:v>
                </c:pt>
                <c:pt idx="2">
                  <c:v>28</c:v>
                </c:pt>
                <c:pt idx="3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70-4308-8652-CC226EFDF0E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521554832"/>
        <c:axId val="1521556272"/>
      </c:barChart>
      <c:catAx>
        <c:axId val="1521554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1556272"/>
        <c:crosses val="autoZero"/>
        <c:auto val="1"/>
        <c:lblAlgn val="ctr"/>
        <c:lblOffset val="100"/>
        <c:noMultiLvlLbl val="0"/>
      </c:catAx>
      <c:valAx>
        <c:axId val="1521556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15548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'Company Growth'!$D$68</c:f>
              <c:strCache>
                <c:ptCount val="1"/>
                <c:pt idx="0">
                  <c:v>total_revenue_from_campaign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'Company Growth'!$B$69:$B$72</c:f>
              <c:strCache>
                <c:ptCount val="4"/>
                <c:pt idx="0">
                  <c:v>Seasonal Push</c:v>
                </c:pt>
                <c:pt idx="1">
                  <c:v>Brand Awareness</c:v>
                </c:pt>
                <c:pt idx="2">
                  <c:v>Product Launch</c:v>
                </c:pt>
                <c:pt idx="3">
                  <c:v>Rebranding campaign</c:v>
                </c:pt>
              </c:strCache>
            </c:strRef>
          </c:cat>
          <c:val>
            <c:numRef>
              <c:f>'Company Growth'!$D$69:$D$72</c:f>
              <c:numCache>
                <c:formatCode>General</c:formatCode>
                <c:ptCount val="4"/>
                <c:pt idx="0">
                  <c:v>1922935.25</c:v>
                </c:pt>
                <c:pt idx="1">
                  <c:v>1853162</c:v>
                </c:pt>
                <c:pt idx="2">
                  <c:v>811693.55</c:v>
                </c:pt>
                <c:pt idx="3">
                  <c:v>479849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A92-447B-A3D1-E49A9DB86FC4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235683328"/>
        <c:axId val="1235681408"/>
      </c:barChart>
      <c:catAx>
        <c:axId val="12356833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5681408"/>
        <c:crosses val="autoZero"/>
        <c:auto val="1"/>
        <c:lblAlgn val="ctr"/>
        <c:lblOffset val="100"/>
        <c:noMultiLvlLbl val="0"/>
      </c:catAx>
      <c:valAx>
        <c:axId val="1235681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356833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8E1EEA-AF48-4AFA-BE64-D7CC2D06577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65D2A9-A5BD-4E00-9181-CC5FCF5C0E68}">
      <dgm:prSet/>
      <dgm:spPr/>
      <dgm:t>
        <a:bodyPr/>
        <a:lstStyle/>
        <a:p>
          <a:r>
            <a:rPr lang="en-IN" dirty="0" err="1"/>
            <a:t>Analyze</a:t>
          </a:r>
          <a:r>
            <a:rPr lang="en-IN" dirty="0"/>
            <a:t> customer transactions to identify sales trends, growth/decline patterns, and acquisition </a:t>
          </a:r>
          <a:r>
            <a:rPr lang="en-IN" dirty="0" err="1"/>
            <a:t>behavior</a:t>
          </a:r>
          <a:r>
            <a:rPr lang="en-IN" dirty="0"/>
            <a:t>.</a:t>
          </a:r>
          <a:endParaRPr lang="en-US" dirty="0"/>
        </a:p>
      </dgm:t>
    </dgm:pt>
    <dgm:pt modelId="{E20D213C-210D-46C3-BA10-71107F189743}" type="parTrans" cxnId="{D442DFDE-3077-48C7-9455-B741DEDC9D81}">
      <dgm:prSet/>
      <dgm:spPr/>
      <dgm:t>
        <a:bodyPr/>
        <a:lstStyle/>
        <a:p>
          <a:endParaRPr lang="en-US"/>
        </a:p>
      </dgm:t>
    </dgm:pt>
    <dgm:pt modelId="{C217FE47-6DDE-4641-868F-6E8CCCE4109F}" type="sibTrans" cxnId="{D442DFDE-3077-48C7-9455-B741DEDC9D81}">
      <dgm:prSet/>
      <dgm:spPr/>
      <dgm:t>
        <a:bodyPr/>
        <a:lstStyle/>
        <a:p>
          <a:endParaRPr lang="en-US"/>
        </a:p>
      </dgm:t>
    </dgm:pt>
    <dgm:pt modelId="{384D97A4-1BA3-4BEB-BD77-FDA65E96399F}">
      <dgm:prSet/>
      <dgm:spPr/>
      <dgm:t>
        <a:bodyPr/>
        <a:lstStyle/>
        <a:p>
          <a:r>
            <a:rPr lang="en-IN"/>
            <a:t>Evaluate coupon and campaign impact on conversions and purchase value.</a:t>
          </a:r>
          <a:endParaRPr lang="en-US"/>
        </a:p>
      </dgm:t>
    </dgm:pt>
    <dgm:pt modelId="{51B7C243-A1CB-4A32-82FC-4C97BD5FA824}" type="parTrans" cxnId="{F28C4FBC-E79C-4DEC-B6AC-029967E5B5E9}">
      <dgm:prSet/>
      <dgm:spPr/>
      <dgm:t>
        <a:bodyPr/>
        <a:lstStyle/>
        <a:p>
          <a:endParaRPr lang="en-US"/>
        </a:p>
      </dgm:t>
    </dgm:pt>
    <dgm:pt modelId="{CA1CF511-8365-4CD8-AC85-E0576BFCBC61}" type="sibTrans" cxnId="{F28C4FBC-E79C-4DEC-B6AC-029967E5B5E9}">
      <dgm:prSet/>
      <dgm:spPr/>
      <dgm:t>
        <a:bodyPr/>
        <a:lstStyle/>
        <a:p>
          <a:endParaRPr lang="en-US"/>
        </a:p>
      </dgm:t>
    </dgm:pt>
    <dgm:pt modelId="{D2A6B513-B62F-4016-B464-5D006C3DE7C1}">
      <dgm:prSet/>
      <dgm:spPr/>
      <dgm:t>
        <a:bodyPr/>
        <a:lstStyle/>
        <a:p>
          <a:r>
            <a:rPr lang="en-IN"/>
            <a:t>Perform market basket analysis to find frequently bought product combinations.</a:t>
          </a:r>
          <a:endParaRPr lang="en-US"/>
        </a:p>
      </dgm:t>
    </dgm:pt>
    <dgm:pt modelId="{6620F57F-957D-42E6-8858-6E648EE1E00E}" type="parTrans" cxnId="{7D2A8DCE-B7B6-41F8-B520-28E962701C09}">
      <dgm:prSet/>
      <dgm:spPr/>
      <dgm:t>
        <a:bodyPr/>
        <a:lstStyle/>
        <a:p>
          <a:endParaRPr lang="en-US"/>
        </a:p>
      </dgm:t>
    </dgm:pt>
    <dgm:pt modelId="{B918CE60-F5E2-40AD-8874-AC6203DD48C7}" type="sibTrans" cxnId="{7D2A8DCE-B7B6-41F8-B520-28E962701C09}">
      <dgm:prSet/>
      <dgm:spPr/>
      <dgm:t>
        <a:bodyPr/>
        <a:lstStyle/>
        <a:p>
          <a:endParaRPr lang="en-US"/>
        </a:p>
      </dgm:t>
    </dgm:pt>
    <dgm:pt modelId="{179E5093-8DF0-44C8-95A3-6DE118E68DCB}">
      <dgm:prSet/>
      <dgm:spPr/>
      <dgm:t>
        <a:bodyPr/>
        <a:lstStyle/>
        <a:p>
          <a:r>
            <a:rPr lang="en-IN"/>
            <a:t>Recommend campaign strategies and bundled product promotions to boost revenue and customer engagement.</a:t>
          </a:r>
          <a:endParaRPr lang="en-US"/>
        </a:p>
      </dgm:t>
    </dgm:pt>
    <dgm:pt modelId="{F06D7F68-970A-4480-821D-DC6A881E3E7D}" type="parTrans" cxnId="{30C9C9EE-8BC9-4538-AFE3-0119B5142BC3}">
      <dgm:prSet/>
      <dgm:spPr/>
      <dgm:t>
        <a:bodyPr/>
        <a:lstStyle/>
        <a:p>
          <a:endParaRPr lang="en-US"/>
        </a:p>
      </dgm:t>
    </dgm:pt>
    <dgm:pt modelId="{37AF09C7-B5D0-4690-AC56-EC9C325813C3}" type="sibTrans" cxnId="{30C9C9EE-8BC9-4538-AFE3-0119B5142BC3}">
      <dgm:prSet/>
      <dgm:spPr/>
      <dgm:t>
        <a:bodyPr/>
        <a:lstStyle/>
        <a:p>
          <a:endParaRPr lang="en-US"/>
        </a:p>
      </dgm:t>
    </dgm:pt>
    <dgm:pt modelId="{718B1A8B-C2D8-4E76-A6F5-135115D268FD}" type="pres">
      <dgm:prSet presAssocID="{498E1EEA-AF48-4AFA-BE64-D7CC2D065773}" presName="linear" presStyleCnt="0">
        <dgm:presLayoutVars>
          <dgm:animLvl val="lvl"/>
          <dgm:resizeHandles val="exact"/>
        </dgm:presLayoutVars>
      </dgm:prSet>
      <dgm:spPr/>
    </dgm:pt>
    <dgm:pt modelId="{6F2C980B-93F0-4492-A704-770BC1F50AED}" type="pres">
      <dgm:prSet presAssocID="{D865D2A9-A5BD-4E00-9181-CC5FCF5C0E6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098A9E88-7E3E-4EE6-92FD-B0306F885049}" type="pres">
      <dgm:prSet presAssocID="{C217FE47-6DDE-4641-868F-6E8CCCE4109F}" presName="spacer" presStyleCnt="0"/>
      <dgm:spPr/>
    </dgm:pt>
    <dgm:pt modelId="{596FB4A3-81E6-4B25-A260-0FA22A62A610}" type="pres">
      <dgm:prSet presAssocID="{384D97A4-1BA3-4BEB-BD77-FDA65E96399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F69E949A-B8F2-4E10-8695-4197DC173259}" type="pres">
      <dgm:prSet presAssocID="{CA1CF511-8365-4CD8-AC85-E0576BFCBC61}" presName="spacer" presStyleCnt="0"/>
      <dgm:spPr/>
    </dgm:pt>
    <dgm:pt modelId="{FA8D9FBA-ED5C-4516-8A02-F68F2FD7A88F}" type="pres">
      <dgm:prSet presAssocID="{D2A6B513-B62F-4016-B464-5D006C3DE7C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8FFE377-4EB4-4EF8-8B27-136FDE89ED14}" type="pres">
      <dgm:prSet presAssocID="{B918CE60-F5E2-40AD-8874-AC6203DD48C7}" presName="spacer" presStyleCnt="0"/>
      <dgm:spPr/>
    </dgm:pt>
    <dgm:pt modelId="{933E3A74-7D88-4B40-9D41-D78AD1582446}" type="pres">
      <dgm:prSet presAssocID="{179E5093-8DF0-44C8-95A3-6DE118E68DCB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7539C47-C410-4177-A43A-A99934DB285A}" type="presOf" srcId="{498E1EEA-AF48-4AFA-BE64-D7CC2D065773}" destId="{718B1A8B-C2D8-4E76-A6F5-135115D268FD}" srcOrd="0" destOrd="0" presId="urn:microsoft.com/office/officeart/2005/8/layout/vList2"/>
    <dgm:cxn modelId="{DE3BBF53-55C1-4892-82B3-7FEDBADAD176}" type="presOf" srcId="{179E5093-8DF0-44C8-95A3-6DE118E68DCB}" destId="{933E3A74-7D88-4B40-9D41-D78AD1582446}" srcOrd="0" destOrd="0" presId="urn:microsoft.com/office/officeart/2005/8/layout/vList2"/>
    <dgm:cxn modelId="{26AF2FA4-D886-4536-9C2A-32CD95256D2B}" type="presOf" srcId="{D2A6B513-B62F-4016-B464-5D006C3DE7C1}" destId="{FA8D9FBA-ED5C-4516-8A02-F68F2FD7A88F}" srcOrd="0" destOrd="0" presId="urn:microsoft.com/office/officeart/2005/8/layout/vList2"/>
    <dgm:cxn modelId="{1CD598B4-AF7D-47E8-AC22-EDF03E5F50DD}" type="presOf" srcId="{384D97A4-1BA3-4BEB-BD77-FDA65E96399F}" destId="{596FB4A3-81E6-4B25-A260-0FA22A62A610}" srcOrd="0" destOrd="0" presId="urn:microsoft.com/office/officeart/2005/8/layout/vList2"/>
    <dgm:cxn modelId="{F28C4FBC-E79C-4DEC-B6AC-029967E5B5E9}" srcId="{498E1EEA-AF48-4AFA-BE64-D7CC2D065773}" destId="{384D97A4-1BA3-4BEB-BD77-FDA65E96399F}" srcOrd="1" destOrd="0" parTransId="{51B7C243-A1CB-4A32-82FC-4C97BD5FA824}" sibTransId="{CA1CF511-8365-4CD8-AC85-E0576BFCBC61}"/>
    <dgm:cxn modelId="{7D2A8DCE-B7B6-41F8-B520-28E962701C09}" srcId="{498E1EEA-AF48-4AFA-BE64-D7CC2D065773}" destId="{D2A6B513-B62F-4016-B464-5D006C3DE7C1}" srcOrd="2" destOrd="0" parTransId="{6620F57F-957D-42E6-8858-6E648EE1E00E}" sibTransId="{B918CE60-F5E2-40AD-8874-AC6203DD48C7}"/>
    <dgm:cxn modelId="{D442DFDE-3077-48C7-9455-B741DEDC9D81}" srcId="{498E1EEA-AF48-4AFA-BE64-D7CC2D065773}" destId="{D865D2A9-A5BD-4E00-9181-CC5FCF5C0E68}" srcOrd="0" destOrd="0" parTransId="{E20D213C-210D-46C3-BA10-71107F189743}" sibTransId="{C217FE47-6DDE-4641-868F-6E8CCCE4109F}"/>
    <dgm:cxn modelId="{E05D2AE9-BF7D-4C85-A793-08687E148A2E}" type="presOf" srcId="{D865D2A9-A5BD-4E00-9181-CC5FCF5C0E68}" destId="{6F2C980B-93F0-4492-A704-770BC1F50AED}" srcOrd="0" destOrd="0" presId="urn:microsoft.com/office/officeart/2005/8/layout/vList2"/>
    <dgm:cxn modelId="{30C9C9EE-8BC9-4538-AFE3-0119B5142BC3}" srcId="{498E1EEA-AF48-4AFA-BE64-D7CC2D065773}" destId="{179E5093-8DF0-44C8-95A3-6DE118E68DCB}" srcOrd="3" destOrd="0" parTransId="{F06D7F68-970A-4480-821D-DC6A881E3E7D}" sibTransId="{37AF09C7-B5D0-4690-AC56-EC9C325813C3}"/>
    <dgm:cxn modelId="{5480B3C1-4B35-4BE6-B69E-EFF7BCF4AF27}" type="presParOf" srcId="{718B1A8B-C2D8-4E76-A6F5-135115D268FD}" destId="{6F2C980B-93F0-4492-A704-770BC1F50AED}" srcOrd="0" destOrd="0" presId="urn:microsoft.com/office/officeart/2005/8/layout/vList2"/>
    <dgm:cxn modelId="{E0427033-2B42-4287-B94D-A6CE6A45EC05}" type="presParOf" srcId="{718B1A8B-C2D8-4E76-A6F5-135115D268FD}" destId="{098A9E88-7E3E-4EE6-92FD-B0306F885049}" srcOrd="1" destOrd="0" presId="urn:microsoft.com/office/officeart/2005/8/layout/vList2"/>
    <dgm:cxn modelId="{36753FC4-7DA5-4856-B52E-DD7876B74C02}" type="presParOf" srcId="{718B1A8B-C2D8-4E76-A6F5-135115D268FD}" destId="{596FB4A3-81E6-4B25-A260-0FA22A62A610}" srcOrd="2" destOrd="0" presId="urn:microsoft.com/office/officeart/2005/8/layout/vList2"/>
    <dgm:cxn modelId="{84C02EF2-1BCB-472B-9610-E29246C100AB}" type="presParOf" srcId="{718B1A8B-C2D8-4E76-A6F5-135115D268FD}" destId="{F69E949A-B8F2-4E10-8695-4197DC173259}" srcOrd="3" destOrd="0" presId="urn:microsoft.com/office/officeart/2005/8/layout/vList2"/>
    <dgm:cxn modelId="{C4487DA9-ED7E-4665-B6A0-440B9E6A2375}" type="presParOf" srcId="{718B1A8B-C2D8-4E76-A6F5-135115D268FD}" destId="{FA8D9FBA-ED5C-4516-8A02-F68F2FD7A88F}" srcOrd="4" destOrd="0" presId="urn:microsoft.com/office/officeart/2005/8/layout/vList2"/>
    <dgm:cxn modelId="{9376AA16-A4AC-418D-AEB5-944344824C44}" type="presParOf" srcId="{718B1A8B-C2D8-4E76-A6F5-135115D268FD}" destId="{A8FFE377-4EB4-4EF8-8B27-136FDE89ED14}" srcOrd="5" destOrd="0" presId="urn:microsoft.com/office/officeart/2005/8/layout/vList2"/>
    <dgm:cxn modelId="{8899F68D-6FD9-4F60-A4CD-4A392CBB1D22}" type="presParOf" srcId="{718B1A8B-C2D8-4E76-A6F5-135115D268FD}" destId="{933E3A74-7D88-4B40-9D41-D78AD1582446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2C980B-93F0-4492-A704-770BC1F50AED}">
      <dsp:nvSpPr>
        <dsp:cNvPr id="0" name=""/>
        <dsp:cNvSpPr/>
      </dsp:nvSpPr>
      <dsp:spPr>
        <a:xfrm>
          <a:off x="0" y="21802"/>
          <a:ext cx="10882312" cy="393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/>
            <a:t>Analyze</a:t>
          </a:r>
          <a:r>
            <a:rPr lang="en-IN" sz="1600" kern="1200" dirty="0"/>
            <a:t> customer transactions to identify sales trends, growth/decline patterns, and acquisition </a:t>
          </a:r>
          <a:r>
            <a:rPr lang="en-IN" sz="1600" kern="1200" dirty="0" err="1"/>
            <a:t>behavior</a:t>
          </a:r>
          <a:r>
            <a:rPr lang="en-IN" sz="1600" kern="1200" dirty="0"/>
            <a:t>.</a:t>
          </a:r>
          <a:endParaRPr lang="en-US" sz="1600" kern="1200" dirty="0"/>
        </a:p>
      </dsp:txBody>
      <dsp:txXfrm>
        <a:off x="19191" y="40993"/>
        <a:ext cx="10843930" cy="354738"/>
      </dsp:txXfrm>
    </dsp:sp>
    <dsp:sp modelId="{596FB4A3-81E6-4B25-A260-0FA22A62A610}">
      <dsp:nvSpPr>
        <dsp:cNvPr id="0" name=""/>
        <dsp:cNvSpPr/>
      </dsp:nvSpPr>
      <dsp:spPr>
        <a:xfrm>
          <a:off x="0" y="461002"/>
          <a:ext cx="10882312" cy="393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Evaluate coupon and campaign impact on conversions and purchase value.</a:t>
          </a:r>
          <a:endParaRPr lang="en-US" sz="1600" kern="1200"/>
        </a:p>
      </dsp:txBody>
      <dsp:txXfrm>
        <a:off x="19191" y="480193"/>
        <a:ext cx="10843930" cy="354738"/>
      </dsp:txXfrm>
    </dsp:sp>
    <dsp:sp modelId="{FA8D9FBA-ED5C-4516-8A02-F68F2FD7A88F}">
      <dsp:nvSpPr>
        <dsp:cNvPr id="0" name=""/>
        <dsp:cNvSpPr/>
      </dsp:nvSpPr>
      <dsp:spPr>
        <a:xfrm>
          <a:off x="0" y="900203"/>
          <a:ext cx="10882312" cy="393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Perform market basket analysis to find frequently bought product combinations.</a:t>
          </a:r>
          <a:endParaRPr lang="en-US" sz="1600" kern="1200"/>
        </a:p>
      </dsp:txBody>
      <dsp:txXfrm>
        <a:off x="19191" y="919394"/>
        <a:ext cx="10843930" cy="354738"/>
      </dsp:txXfrm>
    </dsp:sp>
    <dsp:sp modelId="{933E3A74-7D88-4B40-9D41-D78AD1582446}">
      <dsp:nvSpPr>
        <dsp:cNvPr id="0" name=""/>
        <dsp:cNvSpPr/>
      </dsp:nvSpPr>
      <dsp:spPr>
        <a:xfrm>
          <a:off x="0" y="1339403"/>
          <a:ext cx="10882312" cy="3931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Recommend campaign strategies and bundled product promotions to boost revenue and customer engagement.</a:t>
          </a:r>
          <a:endParaRPr lang="en-US" sz="1600" kern="1200"/>
        </a:p>
      </dsp:txBody>
      <dsp:txXfrm>
        <a:off x="19191" y="1358594"/>
        <a:ext cx="10843930" cy="3547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5E194-6FE4-9E8E-C326-CFF444B44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BFA45D-F3CD-8D0F-ECC3-0B19630CD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D851C-975B-1F74-3AF5-5FA79BD5D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9F5F25-1B5A-A25B-3DC4-931954F7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AF50E-105E-DFC6-60EA-AECF7B65B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877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EC1B-21EF-95B9-3A59-97BC7DE42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BAAD8C-96F2-FE04-C560-DA7B5E934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9346B-E3F9-1223-5B5B-EA8D4765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8EF50-297E-0DA7-FC5E-A90D78FE1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EC7E43-7E24-BCC8-0293-977ADF4A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8805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68F3-45C3-3F29-791C-CFC086306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74348-1954-04D9-BDF9-DA24977648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2CB1EB-251B-EA53-61EB-481C6F00B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684FB-87B6-D588-6C21-AADDECC09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8DA68-F942-9B01-BD0E-3436F3416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93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AAA65-2935-E48E-F82F-BFDC78B0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77C23A-A397-F2E5-A2E3-7D8BFB1B21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E2950-1C77-5661-ECCC-BA196EDBDF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EC183-BB95-0BF6-7598-C55512D208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E4191-5241-BA0C-0D39-D69C7536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E6718E-15B7-4990-0674-D87FE9AF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9396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A2E4C-D6D1-5411-A072-42BA71D7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A9A247-F022-915F-22BF-2569294304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277E5E-EB91-36D2-4F62-03C57EDB21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0B59B-BA6A-1CC3-9BC1-034F15DC58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A79EE5-F53C-2FE9-1042-C1CE08F186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DE75B1-0290-3E4F-33C4-12E1399BA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990046-F1E8-5D79-B91B-01CFB607F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8ABA9E-6EA4-109C-6B16-5ACFCBF53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8238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AE104-FF4A-EC77-52EC-3C9BAA85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B7C91A-E2DD-99D4-F19E-B919E67F5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1DE9C9-C3FC-0D1E-9C43-B12490D6A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B8ECAE-BEEE-AEF1-C5EB-B7CA6033A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966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DEA2F9-DC4C-DAC5-7CCA-D5FB852D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076DFE-C150-5165-3678-10F39DADA9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90A9DD-5BC0-C5CE-0564-7594F938B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36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2C385-CAA4-0BC3-42DA-E7D87FA0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2DFA8-4132-36B9-7C36-C91A627B9E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DC6F1E-918B-FBC2-B5E1-DBD1DC052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D0426F-A42F-EF5F-43CA-482527224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56EC5B-A177-CB0A-8E28-BF7E56C12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B9BCFA-C67F-27D0-569B-972B6A93A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087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75A50-298E-C27A-2835-1B134379D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5E7BDA-D852-AA29-61EB-38683EB89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68009-1912-80C2-3420-871932B717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5D16D4-B870-02FB-95D5-DCE3023053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3A38F-A68A-D31F-32A2-5E28E943F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F8838-FB7C-316B-218C-185397168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372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950E1-537D-EE2A-3DBD-FFB423B3D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926648-98FC-FF14-69EA-113F7D739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4EA68-FE63-C668-F4CB-7E2C300E7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BBB11-4FFA-CDF3-4F78-F77520984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FAA9F-ACB5-F64E-1B82-0074C34FF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634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BFC9DD-E77B-78B4-F42D-FF6F6F59DE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910363-756D-1361-5408-75E2C2B56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09E2B5-8740-B971-5501-7C279ACA3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8949D-1BB0-EDD9-EF57-9F284D20B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675ED-74B1-1D77-5875-1EC2F0DEA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450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DFC052-4AF7-CEF3-DB92-E69ABB70D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41FF8-48A2-1015-9A25-CF4A17150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F300D5-E3C2-7687-A616-4F36632326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39C3CB-488E-47C8-8D16-5B202E668107}" type="datetimeFigureOut">
              <a:rPr lang="en-IN" smtClean="0"/>
              <a:t>21-11-2025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6D6AF1-B9A8-1AB7-5511-5EA80DA40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167DD-C67D-D3DD-AD9A-7767338ED4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F19372-33BF-4254-8A53-91D721CEEB64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BDF582-A568-05E3-C781-448C591BFF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1191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N" sz="1000">
                <a:solidFill>
                  <a:srgbClr val="747474">
                    <a:alpha val="50000"/>
                  </a:srgbClr>
                </a:solidFill>
                <a:latin typeface="Delivery" panose="020F0503020204020204" pitchFamily="34" charset="0"/>
                <a:ea typeface="Delivery" panose="020F0503020204020204" pitchFamily="34" charset="0"/>
                <a:cs typeface="Delivery" panose="020F0503020204020204" pitchFamily="34" charset="0"/>
              </a:rPr>
              <a:t>FOR INTERNAL USE</a:t>
            </a:r>
          </a:p>
        </p:txBody>
      </p:sp>
    </p:spTree>
    <p:extLst>
      <p:ext uri="{BB962C8B-B14F-4D97-AF65-F5344CB8AC3E}">
        <p14:creationId xmlns:p14="http://schemas.microsoft.com/office/powerpoint/2010/main" val="609074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11.xml"/><Relationship Id="rId4" Type="http://schemas.openxmlformats.org/officeDocument/2006/relationships/chart" Target="../charts/char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79AE96-97B6-3A2A-7C5E-9468A28F7B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IN" sz="4800" dirty="0">
                <a:solidFill>
                  <a:srgbClr val="FFFFFF"/>
                </a:solidFill>
              </a:rPr>
              <a:t>Market Campaign Analysis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3041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A9521-6D20-720B-80EB-C41C74FF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Problem Statement &amp; Objective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D01C38-4AD6-B498-012A-26513127CA34}"/>
              </a:ext>
            </a:extLst>
          </p:cNvPr>
          <p:cNvSpPr txBox="1"/>
          <p:nvPr/>
        </p:nvSpPr>
        <p:spPr>
          <a:xfrm>
            <a:off x="334854" y="1441236"/>
            <a:ext cx="1088231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Problem Statement</a:t>
            </a:r>
          </a:p>
          <a:p>
            <a:r>
              <a:rPr lang="en-IN" dirty="0"/>
              <a:t>The company wants to improve its sales performance by understanding customer buying </a:t>
            </a:r>
            <a:r>
              <a:rPr lang="en-IN" dirty="0" err="1"/>
              <a:t>behavior</a:t>
            </a:r>
            <a:r>
              <a:rPr lang="en-IN" dirty="0"/>
              <a:t>, evaluating campaign effectiveness, and identifying product combinations frequently purchased together. However, declining sales, falling customer acquisition, and unclear cross-sell patterns limit the ability to design targeted marketing strategies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5FBAB51D-E3EF-20F4-E43B-03513EF599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0769385"/>
              </p:ext>
            </p:extLst>
          </p:nvPr>
        </p:nvGraphicFramePr>
        <p:xfrm>
          <a:off x="334854" y="3939437"/>
          <a:ext cx="10882312" cy="17543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34B1018D-4233-525E-44B7-EF6DB0A3BF91}"/>
              </a:ext>
            </a:extLst>
          </p:cNvPr>
          <p:cNvSpPr txBox="1"/>
          <p:nvPr/>
        </p:nvSpPr>
        <p:spPr>
          <a:xfrm>
            <a:off x="291921" y="3591125"/>
            <a:ext cx="24407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2728410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B6579-61DB-7232-64F3-CF55AF656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Data Overview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831E1AE-B098-C8D7-F72F-28B6A1F6DA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7449858"/>
              </p:ext>
            </p:extLst>
          </p:nvPr>
        </p:nvGraphicFramePr>
        <p:xfrm>
          <a:off x="8636222" y="2521059"/>
          <a:ext cx="3155302" cy="3643388"/>
        </p:xfrm>
        <a:graphic>
          <a:graphicData uri="http://schemas.openxmlformats.org/drawingml/2006/table">
            <a:tbl>
              <a:tblPr/>
              <a:tblGrid>
                <a:gridCol w="3155302">
                  <a:extLst>
                    <a:ext uri="{9D8B030D-6E8A-4147-A177-3AD203B41FA5}">
                      <a16:colId xmlns:a16="http://schemas.microsoft.com/office/drawing/2014/main" val="2184901742"/>
                    </a:ext>
                  </a:extLst>
                </a:gridCol>
              </a:tblGrid>
              <a:tr h="520484">
                <a:tc>
                  <a:txBody>
                    <a:bodyPr/>
                    <a:lstStyle/>
                    <a:p>
                      <a:pPr algn="ctr"/>
                      <a:r>
                        <a:rPr lang="en-IN" b="1" dirty="0" err="1">
                          <a:solidFill>
                            <a:schemeClr val="tx1"/>
                          </a:solidFill>
                          <a:effectLst/>
                        </a:rPr>
                        <a:t>Color</a:t>
                      </a:r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 segments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977437"/>
                  </a:ext>
                </a:extLst>
              </a:tr>
              <a:tr h="520484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Oil Paint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0501982"/>
                  </a:ext>
                </a:extLst>
              </a:tr>
              <a:tr h="520484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Emulsion Paint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1822471"/>
                  </a:ext>
                </a:extLst>
              </a:tr>
              <a:tr h="520484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Enamel Paint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1182865"/>
                  </a:ext>
                </a:extLst>
              </a:tr>
              <a:tr h="520484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Anti-Corrosive Paint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9156694"/>
                  </a:ext>
                </a:extLst>
              </a:tr>
              <a:tr h="520484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Synthetic paint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0834827"/>
                  </a:ext>
                </a:extLst>
              </a:tr>
              <a:tr h="520484"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effectLst/>
                        </a:rPr>
                        <a:t>Item_Category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4856121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B96EF8F-F562-2BF0-04BE-9B6626AD49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7853288"/>
              </p:ext>
            </p:extLst>
          </p:nvPr>
        </p:nvGraphicFramePr>
        <p:xfrm>
          <a:off x="838200" y="4458096"/>
          <a:ext cx="2552410" cy="1706880"/>
        </p:xfrm>
        <a:graphic>
          <a:graphicData uri="http://schemas.openxmlformats.org/drawingml/2006/table">
            <a:tbl>
              <a:tblPr/>
              <a:tblGrid>
                <a:gridCol w="2552410">
                  <a:extLst>
                    <a:ext uri="{9D8B030D-6E8A-4147-A177-3AD203B41FA5}">
                      <a16:colId xmlns:a16="http://schemas.microsoft.com/office/drawing/2014/main" val="15600951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Coupon types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5267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Percent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078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Flat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7429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 err="1">
                          <a:effectLst/>
                        </a:rPr>
                        <a:t>couponType</a:t>
                      </a:r>
                      <a:endParaRPr lang="en-IN" dirty="0">
                        <a:effectLst/>
                      </a:endParaRP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0121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CC82CF-836E-4F88-9A7F-6F27751D2C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94485"/>
              </p:ext>
            </p:extLst>
          </p:nvPr>
        </p:nvGraphicFramePr>
        <p:xfrm>
          <a:off x="4492593" y="4458096"/>
          <a:ext cx="2552410" cy="1706880"/>
        </p:xfrm>
        <a:graphic>
          <a:graphicData uri="http://schemas.openxmlformats.org/drawingml/2006/table">
            <a:tbl>
              <a:tblPr/>
              <a:tblGrid>
                <a:gridCol w="2552410">
                  <a:extLst>
                    <a:ext uri="{9D8B030D-6E8A-4147-A177-3AD203B41FA5}">
                      <a16:colId xmlns:a16="http://schemas.microsoft.com/office/drawing/2014/main" val="149329403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b="1" dirty="0">
                          <a:solidFill>
                            <a:schemeClr val="tx1"/>
                          </a:solidFill>
                          <a:effectLst/>
                        </a:rPr>
                        <a:t>Order types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33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Household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930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effectLst/>
                        </a:rPr>
                        <a:t>Government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4376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effectLst/>
                        </a:rPr>
                        <a:t>Industrial</a:t>
                      </a:r>
                    </a:p>
                  </a:txBody>
                  <a:tcPr marL="76200" marR="76200" marT="76200" marB="76200" anchor="ctr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6060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5DF6CD9-5C07-A59C-9EF7-E2559EFC067C}"/>
              </a:ext>
            </a:extLst>
          </p:cNvPr>
          <p:cNvSpPr txBox="1"/>
          <p:nvPr/>
        </p:nvSpPr>
        <p:spPr>
          <a:xfrm>
            <a:off x="400476" y="1613118"/>
            <a:ext cx="710391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Total Operational States – 21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Total </a:t>
            </a:r>
            <a:r>
              <a:rPr lang="en-IN" sz="2800" dirty="0" err="1"/>
              <a:t>Color</a:t>
            </a:r>
            <a:r>
              <a:rPr lang="en-IN" sz="2800" dirty="0"/>
              <a:t> Segments – 6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Coupon Types – 3</a:t>
            </a:r>
          </a:p>
          <a:p>
            <a:pPr marL="457200" indent="-457200">
              <a:buFont typeface="Courier New" panose="02070309020205020404" pitchFamily="49" charset="0"/>
              <a:buChar char="o"/>
            </a:pPr>
            <a:r>
              <a:rPr lang="en-IN" sz="2800" dirty="0"/>
              <a:t>Order Types - 3</a:t>
            </a:r>
          </a:p>
        </p:txBody>
      </p:sp>
    </p:spTree>
    <p:extLst>
      <p:ext uri="{BB962C8B-B14F-4D97-AF65-F5344CB8AC3E}">
        <p14:creationId xmlns:p14="http://schemas.microsoft.com/office/powerpoint/2010/main" val="36060789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6D280F3F-23E2-E1D1-4EE6-C0389452179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72665319"/>
              </p:ext>
            </p:extLst>
          </p:nvPr>
        </p:nvGraphicFramePr>
        <p:xfrm>
          <a:off x="740229" y="102325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679A509-E953-AA80-FF86-F2BA4E6181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5631280"/>
              </p:ext>
            </p:extLst>
          </p:nvPr>
        </p:nvGraphicFramePr>
        <p:xfrm>
          <a:off x="6257925" y="1023257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623B7AB6-FDFE-B320-335D-EEB63A8D011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25188"/>
              </p:ext>
            </p:extLst>
          </p:nvPr>
        </p:nvGraphicFramePr>
        <p:xfrm>
          <a:off x="1144904" y="3981450"/>
          <a:ext cx="972312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itle 1">
            <a:extLst>
              <a:ext uri="{FF2B5EF4-FFF2-40B4-BE49-F238E27FC236}">
                <a16:creationId xmlns:a16="http://schemas.microsoft.com/office/drawing/2014/main" id="{431D1E86-3842-14CC-B972-AE0FC18D6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Sales Insights</a:t>
            </a:r>
          </a:p>
        </p:txBody>
      </p:sp>
    </p:spTree>
    <p:extLst>
      <p:ext uri="{BB962C8B-B14F-4D97-AF65-F5344CB8AC3E}">
        <p14:creationId xmlns:p14="http://schemas.microsoft.com/office/powerpoint/2010/main" val="2338080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68959C-4BD5-4616-64C4-862796892F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0915315"/>
              </p:ext>
            </p:extLst>
          </p:nvPr>
        </p:nvGraphicFramePr>
        <p:xfrm>
          <a:off x="457200" y="285750"/>
          <a:ext cx="6019800" cy="3219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543DDAEF-3E14-1055-C291-37EEAD203F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7628030"/>
              </p:ext>
            </p:extLst>
          </p:nvPr>
        </p:nvGraphicFramePr>
        <p:xfrm>
          <a:off x="457200" y="3648074"/>
          <a:ext cx="6019800" cy="301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EAB26CC-FEA9-0872-61FF-6C3DC170090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7814219"/>
              </p:ext>
            </p:extLst>
          </p:nvPr>
        </p:nvGraphicFramePr>
        <p:xfrm>
          <a:off x="7162800" y="285750"/>
          <a:ext cx="45720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CDA8D56-B150-7184-AECE-5241856077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8424874"/>
              </p:ext>
            </p:extLst>
          </p:nvPr>
        </p:nvGraphicFramePr>
        <p:xfrm>
          <a:off x="7162800" y="3648074"/>
          <a:ext cx="4572000" cy="30194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658162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17FD2-95D2-B418-135B-0922E8544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Lead Conversions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8264A36-D31E-EEB2-3937-58675F106BB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0815818"/>
              </p:ext>
            </p:extLst>
          </p:nvPr>
        </p:nvGraphicFramePr>
        <p:xfrm>
          <a:off x="133349" y="1438275"/>
          <a:ext cx="484822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79C47294-5E38-8B8C-67EC-965CE48AEF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8566771"/>
              </p:ext>
            </p:extLst>
          </p:nvPr>
        </p:nvGraphicFramePr>
        <p:xfrm>
          <a:off x="271462" y="41814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A248315-36E6-6DB2-167C-8EEC9B2E86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14567363"/>
              </p:ext>
            </p:extLst>
          </p:nvPr>
        </p:nvGraphicFramePr>
        <p:xfrm>
          <a:off x="5534025" y="1343818"/>
          <a:ext cx="5962650" cy="234235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D906CEF-CCDD-9AF0-CDDD-DE3B8E7FC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0502908"/>
              </p:ext>
            </p:extLst>
          </p:nvPr>
        </p:nvGraphicFramePr>
        <p:xfrm>
          <a:off x="5534025" y="3971925"/>
          <a:ext cx="5962650" cy="2552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2595498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4E6EF-DB70-9BB7-FA77-41C2C0130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Campaign Effectiveness Analysis – Key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271F8E-CEF3-4A50-BA64-22D8D5767B41}"/>
              </a:ext>
            </a:extLst>
          </p:cNvPr>
          <p:cNvSpPr txBox="1"/>
          <p:nvPr/>
        </p:nvSpPr>
        <p:spPr>
          <a:xfrm>
            <a:off x="414338" y="2431447"/>
            <a:ext cx="50720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1200" b="1" dirty="0"/>
              <a:t>Strong Adoption of Campaign Coupons</a:t>
            </a:r>
          </a:p>
          <a:p>
            <a:pPr marL="342900" indent="-342900">
              <a:buAutoNum type="arabicPeriod"/>
            </a:pPr>
            <a:endParaRPr lang="en-IN" sz="12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200" b="1" dirty="0"/>
              <a:t>62% of all transactions</a:t>
            </a:r>
            <a:r>
              <a:rPr lang="en-IN" sz="1200" dirty="0"/>
              <a:t> used campaign coupons</a:t>
            </a:r>
            <a:br>
              <a:rPr lang="en-IN" sz="1200" dirty="0"/>
            </a:br>
            <a:r>
              <a:rPr lang="en-IN" sz="1200" i="1" dirty="0"/>
              <a:t>(186 out of 300 total transactions)</a:t>
            </a:r>
            <a:endParaRPr lang="en-IN" sz="12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200" dirty="0"/>
              <a:t>This indicates campaigns are successfully influencing customer </a:t>
            </a:r>
            <a:r>
              <a:rPr lang="en-IN" sz="1200" dirty="0" err="1"/>
              <a:t>behavior</a:t>
            </a:r>
            <a:r>
              <a:rPr lang="en-IN" sz="1200" dirty="0"/>
              <a:t> during purchases.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B7D077-BB38-4AA9-65C7-E679142252B6}"/>
              </a:ext>
            </a:extLst>
          </p:cNvPr>
          <p:cNvSpPr txBox="1"/>
          <p:nvPr/>
        </p:nvSpPr>
        <p:spPr>
          <a:xfrm>
            <a:off x="5881688" y="2431447"/>
            <a:ext cx="61055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2. Campaigns Are Driving Customer Acquisition</a:t>
            </a:r>
          </a:p>
          <a:p>
            <a:pPr>
              <a:buNone/>
            </a:pPr>
            <a:endParaRPr lang="en-IN" sz="12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200" b="1" dirty="0"/>
              <a:t>67% of first-time customers</a:t>
            </a:r>
            <a:r>
              <a:rPr lang="en-IN" sz="1200" dirty="0"/>
              <a:t> made their initial purchase using a campaign coupon</a:t>
            </a:r>
            <a:br>
              <a:rPr lang="en-IN" sz="1200" dirty="0"/>
            </a:br>
            <a:r>
              <a:rPr lang="en-IN" sz="1200" i="1" dirty="0"/>
              <a:t>(94 out of 141 customers)</a:t>
            </a:r>
            <a:endParaRPr lang="en-IN" sz="12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200" dirty="0"/>
              <a:t>Campaigns are clearly effective in attracting new buyers and pulling them into the funnel early.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09B015-8CDD-D216-9F95-109560A84EC3}"/>
              </a:ext>
            </a:extLst>
          </p:cNvPr>
          <p:cNvSpPr txBox="1"/>
          <p:nvPr/>
        </p:nvSpPr>
        <p:spPr>
          <a:xfrm>
            <a:off x="414338" y="5147965"/>
            <a:ext cx="50720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3. Broad User Reach</a:t>
            </a:r>
          </a:p>
          <a:p>
            <a:pPr>
              <a:buNone/>
            </a:pPr>
            <a:endParaRPr lang="en-IN" sz="12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200" b="1" dirty="0"/>
              <a:t>100 unique customers</a:t>
            </a:r>
            <a:r>
              <a:rPr lang="en-IN" sz="1200" dirty="0"/>
              <a:t> purchased using campaign coupons vs </a:t>
            </a:r>
            <a:r>
              <a:rPr lang="en-IN" sz="1200" b="1" dirty="0"/>
              <a:t>70 without</a:t>
            </a:r>
            <a:r>
              <a:rPr lang="en-IN" sz="1200" dirty="0"/>
              <a:t>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200" dirty="0"/>
              <a:t>Campaigns are reaching a wider customer base and improving touchpoints.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712B7C-5035-AF2E-7772-5FE19D532F42}"/>
              </a:ext>
            </a:extLst>
          </p:cNvPr>
          <p:cNvSpPr txBox="1"/>
          <p:nvPr/>
        </p:nvSpPr>
        <p:spPr>
          <a:xfrm>
            <a:off x="6096000" y="5081111"/>
            <a:ext cx="58912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200" b="1" dirty="0"/>
              <a:t>4. Higher Revenue Through Campaign Purchases</a:t>
            </a:r>
          </a:p>
          <a:p>
            <a:pPr>
              <a:buNone/>
            </a:pPr>
            <a:endParaRPr lang="en-IN" sz="1200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200" b="1" dirty="0"/>
              <a:t>Purchase Amount via Campaign Coupons:</a:t>
            </a:r>
            <a:r>
              <a:rPr lang="en-IN" sz="1200" dirty="0"/>
              <a:t> ₹ </a:t>
            </a:r>
            <a:r>
              <a:rPr lang="en-IN" sz="1200" b="1" dirty="0"/>
              <a:t>50.7 lakh</a:t>
            </a:r>
            <a:endParaRPr lang="en-IN" sz="12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200" b="1" dirty="0"/>
              <a:t>Purchase Amount via Normal Coupons:</a:t>
            </a:r>
            <a:r>
              <a:rPr lang="en-IN" sz="1200" dirty="0"/>
              <a:t> ₹ </a:t>
            </a:r>
            <a:r>
              <a:rPr lang="en-IN" sz="1200" b="1" dirty="0"/>
              <a:t>28.1 lakh</a:t>
            </a:r>
            <a:endParaRPr lang="en-IN" sz="12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sz="1200" dirty="0"/>
              <a:t>Campaign coupon transactions are generating </a:t>
            </a:r>
            <a:r>
              <a:rPr lang="en-IN" sz="1200" b="1" dirty="0"/>
              <a:t>1.8× more revenue</a:t>
            </a:r>
            <a:r>
              <a:rPr lang="en-IN" sz="1200" dirty="0"/>
              <a:t> than normal coupon transactions.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F05923-8EC7-9AF1-61E7-129E56340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475" y="1433036"/>
            <a:ext cx="1319325" cy="997638"/>
          </a:xfrm>
          <a:prstGeom prst="rect">
            <a:avLst/>
          </a:prstGeom>
        </p:spPr>
      </p:pic>
      <p:pic>
        <p:nvPicPr>
          <p:cNvPr id="3074" name="Picture 2" descr="Customer Acquisition? Definition ...">
            <a:extLst>
              <a:ext uri="{FF2B5EF4-FFF2-40B4-BE49-F238E27FC236}">
                <a16:creationId xmlns:a16="http://schemas.microsoft.com/office/drawing/2014/main" id="{98DA3B51-86C9-33E9-D005-46A70D9469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200" y="1555808"/>
            <a:ext cx="1343025" cy="752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ocial reach - Free user icons">
            <a:extLst>
              <a:ext uri="{FF2B5EF4-FFF2-40B4-BE49-F238E27FC236}">
                <a16:creationId xmlns:a16="http://schemas.microsoft.com/office/drawing/2014/main" id="{43590474-5F4D-1D96-DB7B-D0C69C503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5039" y="4089833"/>
            <a:ext cx="900112" cy="90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What are Revenue Receipts, News, Budget ...">
            <a:extLst>
              <a:ext uri="{FF2B5EF4-FFF2-40B4-BE49-F238E27FC236}">
                <a16:creationId xmlns:a16="http://schemas.microsoft.com/office/drawing/2014/main" id="{E551FF40-0F21-C3DF-A863-B4DF16407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9575" y="4026766"/>
            <a:ext cx="900112" cy="90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4342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5D30C4B-CE87-51F4-F56F-8D4460281E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5161530"/>
              </p:ext>
            </p:extLst>
          </p:nvPr>
        </p:nvGraphicFramePr>
        <p:xfrm>
          <a:off x="66675" y="1325563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3E939BB8-D114-A526-3D67-FA1950237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 dirty="0"/>
              <a:t>Company growth and decline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99F20AEC-2023-5C38-C353-1E3BB67729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5583084"/>
              </p:ext>
            </p:extLst>
          </p:nvPr>
        </p:nvGraphicFramePr>
        <p:xfrm>
          <a:off x="66675" y="402272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6E8BB272-BBE9-7E7D-B623-C887C5DC1A3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13818645"/>
              </p:ext>
            </p:extLst>
          </p:nvPr>
        </p:nvGraphicFramePr>
        <p:xfrm>
          <a:off x="6524626" y="1325563"/>
          <a:ext cx="5114924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E7956DB-7A4C-CD64-4606-75460990DD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9437852"/>
              </p:ext>
            </p:extLst>
          </p:nvPr>
        </p:nvGraphicFramePr>
        <p:xfrm>
          <a:off x="6524626" y="4369436"/>
          <a:ext cx="5114924" cy="20497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589383">
                  <a:extLst>
                    <a:ext uri="{9D8B030D-6E8A-4147-A177-3AD203B41FA5}">
                      <a16:colId xmlns:a16="http://schemas.microsoft.com/office/drawing/2014/main" val="4272752627"/>
                    </a:ext>
                  </a:extLst>
                </a:gridCol>
                <a:gridCol w="1184813">
                  <a:extLst>
                    <a:ext uri="{9D8B030D-6E8A-4147-A177-3AD203B41FA5}">
                      <a16:colId xmlns:a16="http://schemas.microsoft.com/office/drawing/2014/main" val="4084464870"/>
                    </a:ext>
                  </a:extLst>
                </a:gridCol>
                <a:gridCol w="1647179">
                  <a:extLst>
                    <a:ext uri="{9D8B030D-6E8A-4147-A177-3AD203B41FA5}">
                      <a16:colId xmlns:a16="http://schemas.microsoft.com/office/drawing/2014/main" val="506200905"/>
                    </a:ext>
                  </a:extLst>
                </a:gridCol>
                <a:gridCol w="693549">
                  <a:extLst>
                    <a:ext uri="{9D8B030D-6E8A-4147-A177-3AD203B41FA5}">
                      <a16:colId xmlns:a16="http://schemas.microsoft.com/office/drawing/2014/main" val="424279985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Year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Sales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 err="1">
                          <a:effectLst/>
                        </a:rPr>
                        <a:t>YOY_Change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Trend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7597144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2019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1671845.15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-</a:t>
                      </a: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increase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34591701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2020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3533903.2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1862058.05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increase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34806186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2021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3159442.2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-374461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decline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418812795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2022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2182516.35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-976925.85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decline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235413682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2023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298302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>
                          <a:effectLst/>
                        </a:rPr>
                        <a:t>-1884214.35</a:t>
                      </a:r>
                      <a:endParaRPr lang="en-IN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u="none" strike="noStrike" dirty="0">
                          <a:effectLst/>
                        </a:rPr>
                        <a:t>decline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35717796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5405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6C47E57-7368-00D6-025A-E2909B6142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183194"/>
              </p:ext>
            </p:extLst>
          </p:nvPr>
        </p:nvGraphicFramePr>
        <p:xfrm>
          <a:off x="2990848" y="1017588"/>
          <a:ext cx="5086351" cy="16230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828427">
                  <a:extLst>
                    <a:ext uri="{9D8B030D-6E8A-4147-A177-3AD203B41FA5}">
                      <a16:colId xmlns:a16="http://schemas.microsoft.com/office/drawing/2014/main" val="2006246438"/>
                    </a:ext>
                  </a:extLst>
                </a:gridCol>
                <a:gridCol w="1363009">
                  <a:extLst>
                    <a:ext uri="{9D8B030D-6E8A-4147-A177-3AD203B41FA5}">
                      <a16:colId xmlns:a16="http://schemas.microsoft.com/office/drawing/2014/main" val="139176866"/>
                    </a:ext>
                  </a:extLst>
                </a:gridCol>
                <a:gridCol w="1894915">
                  <a:extLst>
                    <a:ext uri="{9D8B030D-6E8A-4147-A177-3AD203B41FA5}">
                      <a16:colId xmlns:a16="http://schemas.microsoft.com/office/drawing/2014/main" val="3802945956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CampaignType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Unique customers reached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Total Revenue From Campaign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1686074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Seasonal Push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1922935.25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33362229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Brand Awareness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1853162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388067108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Product Launch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28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811693.55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203045163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Rebranding campaign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19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479849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4053968441"/>
                  </a:ext>
                </a:extLst>
              </a:tr>
            </a:tbl>
          </a:graphicData>
        </a:graphic>
      </p:graphicFrame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5CB644D0-8DC4-74F3-EDB6-29231241FA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26793914"/>
              </p:ext>
            </p:extLst>
          </p:nvPr>
        </p:nvGraphicFramePr>
        <p:xfrm>
          <a:off x="571500" y="35718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78E3DCC-A339-C249-CE2D-CFD4B35561E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9675529"/>
              </p:ext>
            </p:extLst>
          </p:nvPr>
        </p:nvGraphicFramePr>
        <p:xfrm>
          <a:off x="6096000" y="3571875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031190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104BD-7B59-14BB-FEE9-7F168C51B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Do We Need to Launch a New Campaign?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3AFB6F-2446-7DE1-38D8-C54203D6B59B}"/>
              </a:ext>
            </a:extLst>
          </p:cNvPr>
          <p:cNvSpPr txBox="1"/>
          <p:nvPr/>
        </p:nvSpPr>
        <p:spPr>
          <a:xfrm>
            <a:off x="690563" y="1723936"/>
            <a:ext cx="61055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b="1" dirty="0"/>
              <a:t>Yes</a:t>
            </a:r>
          </a:p>
          <a:p>
            <a:endParaRPr lang="en-IN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The company is experiencing </a:t>
            </a:r>
            <a:r>
              <a:rPr lang="en-IN" b="1" dirty="0"/>
              <a:t>3 consecutive years of sales decline</a:t>
            </a:r>
            <a:r>
              <a:rPr lang="en-IN" dirty="0"/>
              <a:t>, an </a:t>
            </a:r>
            <a:r>
              <a:rPr lang="en-IN" b="1" dirty="0"/>
              <a:t>extreme drop in new customers</a:t>
            </a:r>
            <a:r>
              <a:rPr lang="en-IN" dirty="0"/>
              <a:t>, and </a:t>
            </a:r>
            <a:r>
              <a:rPr lang="en-IN" b="1" dirty="0"/>
              <a:t>lowest-ever annual revenue in 2023</a:t>
            </a:r>
            <a:r>
              <a:rPr lang="en-IN" dirty="0"/>
              <a:t>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DD3242-CDB0-5852-3433-6C108450BBC4}"/>
              </a:ext>
            </a:extLst>
          </p:cNvPr>
          <p:cNvSpPr txBox="1"/>
          <p:nvPr/>
        </p:nvSpPr>
        <p:spPr>
          <a:xfrm>
            <a:off x="690563" y="3933736"/>
            <a:ext cx="61055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Type of Campaign</a:t>
            </a:r>
          </a:p>
          <a:p>
            <a:pPr>
              <a:buNone/>
            </a:pPr>
            <a:endParaRPr lang="en-IN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b="1" dirty="0"/>
              <a:t>We should launch a “Seasonal Push” campaign first.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It delivered the </a:t>
            </a:r>
            <a:r>
              <a:rPr lang="en-IN" b="1" dirty="0"/>
              <a:t>highest historical customer reach and revenue uplift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Aligns with need to bring back demand and increase transaction counts</a:t>
            </a:r>
          </a:p>
        </p:txBody>
      </p:sp>
      <p:pic>
        <p:nvPicPr>
          <p:cNvPr id="6148" name="Picture 4" descr="Launch Campaign Stock Illustrations – 4 ...">
            <a:extLst>
              <a:ext uri="{FF2B5EF4-FFF2-40B4-BE49-F238E27FC236}">
                <a16:creationId xmlns:a16="http://schemas.microsoft.com/office/drawing/2014/main" id="{A162A343-F8F2-87E2-7BE3-F523C127D6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188" y="1843439"/>
            <a:ext cx="2867025" cy="15906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4 Types of Winning Campaign Concepts ...">
            <a:extLst>
              <a:ext uri="{FF2B5EF4-FFF2-40B4-BE49-F238E27FC236}">
                <a16:creationId xmlns:a16="http://schemas.microsoft.com/office/drawing/2014/main" id="{5BF7D5E2-F219-AE15-E57B-235C0F57F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7188" y="4319588"/>
            <a:ext cx="2867025" cy="1514475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3900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9D8E3-EC17-182D-F956-EFAFA27CE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00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Market Basket Analysis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405D04-E1C0-82F4-5885-9D7D62CA5A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299872"/>
              </p:ext>
            </p:extLst>
          </p:nvPr>
        </p:nvGraphicFramePr>
        <p:xfrm>
          <a:off x="6581773" y="2795204"/>
          <a:ext cx="4467227" cy="1624394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116807">
                  <a:extLst>
                    <a:ext uri="{9D8B030D-6E8A-4147-A177-3AD203B41FA5}">
                      <a16:colId xmlns:a16="http://schemas.microsoft.com/office/drawing/2014/main" val="2036165278"/>
                    </a:ext>
                  </a:extLst>
                </a:gridCol>
                <a:gridCol w="1445420">
                  <a:extLst>
                    <a:ext uri="{9D8B030D-6E8A-4147-A177-3AD203B41FA5}">
                      <a16:colId xmlns:a16="http://schemas.microsoft.com/office/drawing/2014/main" val="530369951"/>
                    </a:ext>
                  </a:extLst>
                </a:gridCol>
                <a:gridCol w="866775">
                  <a:extLst>
                    <a:ext uri="{9D8B030D-6E8A-4147-A177-3AD203B41FA5}">
                      <a16:colId xmlns:a16="http://schemas.microsoft.com/office/drawing/2014/main" val="2236176021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657745491"/>
                    </a:ext>
                  </a:extLst>
                </a:gridCol>
              </a:tblGrid>
              <a:tr h="34318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First Product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Second Product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 err="1">
                          <a:effectLst/>
                        </a:rPr>
                        <a:t>OrderType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Purchase Frequency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775549376"/>
                  </a:ext>
                </a:extLst>
              </a:tr>
              <a:tr h="32030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Item_13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Item_16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Household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10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4249976195"/>
                  </a:ext>
                </a:extLst>
              </a:tr>
              <a:tr h="32030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Item_13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Item_16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Industrial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3251093011"/>
                  </a:ext>
                </a:extLst>
              </a:tr>
              <a:tr h="32030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Item_13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Item_16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Government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2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2278406237"/>
                  </a:ext>
                </a:extLst>
              </a:tr>
              <a:tr h="320303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Item_4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Item_61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Household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4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620" marR="7620" marT="76200" marB="76200" anchor="ctr"/>
                </a:tc>
                <a:extLst>
                  <a:ext uri="{0D108BD9-81ED-4DB2-BD59-A6C34878D82A}">
                    <a16:rowId xmlns:a16="http://schemas.microsoft.com/office/drawing/2014/main" val="100427801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C4181A3-3520-25C6-D8ED-1FBB536CCE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423477"/>
              </p:ext>
            </p:extLst>
          </p:nvPr>
        </p:nvGraphicFramePr>
        <p:xfrm>
          <a:off x="1800224" y="1143001"/>
          <a:ext cx="3324225" cy="562042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816565">
                  <a:extLst>
                    <a:ext uri="{9D8B030D-6E8A-4147-A177-3AD203B41FA5}">
                      <a16:colId xmlns:a16="http://schemas.microsoft.com/office/drawing/2014/main" val="2171325576"/>
                    </a:ext>
                  </a:extLst>
                </a:gridCol>
                <a:gridCol w="874530">
                  <a:extLst>
                    <a:ext uri="{9D8B030D-6E8A-4147-A177-3AD203B41FA5}">
                      <a16:colId xmlns:a16="http://schemas.microsoft.com/office/drawing/2014/main" val="3594901363"/>
                    </a:ext>
                  </a:extLst>
                </a:gridCol>
                <a:gridCol w="816565">
                  <a:extLst>
                    <a:ext uri="{9D8B030D-6E8A-4147-A177-3AD203B41FA5}">
                      <a16:colId xmlns:a16="http://schemas.microsoft.com/office/drawing/2014/main" val="801702255"/>
                    </a:ext>
                  </a:extLst>
                </a:gridCol>
                <a:gridCol w="816565">
                  <a:extLst>
                    <a:ext uri="{9D8B030D-6E8A-4147-A177-3AD203B41FA5}">
                      <a16:colId xmlns:a16="http://schemas.microsoft.com/office/drawing/2014/main" val="3294143182"/>
                    </a:ext>
                  </a:extLst>
                </a:gridCol>
              </a:tblGrid>
              <a:tr h="29921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First Product</a:t>
                      </a: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Second Product</a:t>
                      </a:r>
                      <a:endParaRPr lang="en-IN" sz="10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 err="1">
                          <a:effectLst/>
                        </a:rPr>
                        <a:t>Order_Type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Purchase Frequency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" marB="0" anchor="ctr"/>
                </a:tc>
                <a:extLst>
                  <a:ext uri="{0D108BD9-81ED-4DB2-BD59-A6C34878D82A}">
                    <a16:rowId xmlns:a16="http://schemas.microsoft.com/office/drawing/2014/main" val="518064169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10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7633426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Item_61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3619429418"/>
                  </a:ext>
                </a:extLst>
              </a:tr>
              <a:tr h="21725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Industrial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2589914299"/>
                  </a:ext>
                </a:extLst>
              </a:tr>
              <a:tr h="21725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Item_59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Industrial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1421732644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Item_13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Government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449078284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1726356701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Item_35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2183660415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Item_37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Item_46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2770875306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Item_61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1631374387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3842422927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Item_41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Item_47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1110925295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Item_35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Item_61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2743977107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Item_35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264393696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Item_38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3261562752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Item_22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Item_51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3632860869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Item_24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Item_44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2682638034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Item_50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Item_8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1882835723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Item_36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Item_56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2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3495009317"/>
                  </a:ext>
                </a:extLst>
              </a:tr>
              <a:tr h="286131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Item_1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Item_35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>
                          <a:effectLst/>
                        </a:rPr>
                        <a:t>Household</a:t>
                      </a:r>
                      <a:endParaRPr lang="en-IN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u="none" strike="noStrike" dirty="0">
                          <a:effectLst/>
                        </a:rPr>
                        <a:t>2</a:t>
                      </a:r>
                      <a:endParaRPr lang="en-IN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3575" marR="3575" marT="35755" marB="35755" anchor="ctr"/>
                </a:tc>
                <a:extLst>
                  <a:ext uri="{0D108BD9-81ED-4DB2-BD59-A6C34878D82A}">
                    <a16:rowId xmlns:a16="http://schemas.microsoft.com/office/drawing/2014/main" val="266401506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DF51A71-C778-B13E-CA2E-D1357C4B74A7}"/>
              </a:ext>
            </a:extLst>
          </p:cNvPr>
          <p:cNvCxnSpPr/>
          <p:nvPr/>
        </p:nvCxnSpPr>
        <p:spPr>
          <a:xfrm>
            <a:off x="5295900" y="3600450"/>
            <a:ext cx="116205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87057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F2404-5997-CDD8-6A44-0097C1B35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75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Which Product Pair Should Be Promoted?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926E80-1272-55D4-B350-0B3B36BED124}"/>
              </a:ext>
            </a:extLst>
          </p:cNvPr>
          <p:cNvSpPr txBox="1"/>
          <p:nvPr/>
        </p:nvSpPr>
        <p:spPr>
          <a:xfrm>
            <a:off x="442913" y="2369315"/>
            <a:ext cx="49688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1. High Priority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Item_13 + Item_16</a:t>
            </a:r>
          </a:p>
          <a:p>
            <a:pPr>
              <a:buNone/>
            </a:pPr>
            <a:endParaRPr lang="en-IN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Most frequent bundle across </a:t>
            </a:r>
            <a:r>
              <a:rPr lang="en-IN" b="1" dirty="0"/>
              <a:t>all 3 sectors</a:t>
            </a:r>
            <a:endParaRPr lang="en-IN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Highest cross-selling potential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Should be promoted in: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Household campaigns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Industrial campaigns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Government tenders/packages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Suitable for: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"Combo discount"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"Buy 1, get % off on second"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dirty="0"/>
              <a:t>"Festival painting combo pack"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1F1C0E-7AE0-7115-F3A0-4BFE0F365BC2}"/>
              </a:ext>
            </a:extLst>
          </p:cNvPr>
          <p:cNvSpPr txBox="1"/>
          <p:nvPr/>
        </p:nvSpPr>
        <p:spPr>
          <a:xfrm>
            <a:off x="6548437" y="2413337"/>
            <a:ext cx="61055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2. Medium Priority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b="1" dirty="0"/>
              <a:t>Item_4 + Item_61</a:t>
            </a:r>
          </a:p>
          <a:p>
            <a:pPr>
              <a:buNone/>
            </a:pPr>
            <a:endParaRPr lang="en-IN" b="1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Repeat count: 4 (Household)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Ideal for small promotional offers targeted only at Household customers.</a:t>
            </a:r>
          </a:p>
        </p:txBody>
      </p:sp>
      <p:pic>
        <p:nvPicPr>
          <p:cNvPr id="8198" name="Picture 6" descr="Low Medium High priority icon. Clipart ...">
            <a:extLst>
              <a:ext uri="{FF2B5EF4-FFF2-40B4-BE49-F238E27FC236}">
                <a16:creationId xmlns:a16="http://schemas.microsoft.com/office/drawing/2014/main" id="{686E07D2-3857-83AD-1741-3D7E585E9DC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19" t="9282" r="34219" b="11677"/>
          <a:stretch/>
        </p:blipFill>
        <p:spPr bwMode="auto">
          <a:xfrm>
            <a:off x="8291514" y="1083188"/>
            <a:ext cx="904873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Low Medium High priority icon. Clipart ...">
            <a:extLst>
              <a:ext uri="{FF2B5EF4-FFF2-40B4-BE49-F238E27FC236}">
                <a16:creationId xmlns:a16="http://schemas.microsoft.com/office/drawing/2014/main" id="{94515BB4-D6BE-CC6D-CCED-11DD7FF16E5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465" t="9282" r="7973" b="11677"/>
          <a:stretch/>
        </p:blipFill>
        <p:spPr bwMode="auto">
          <a:xfrm>
            <a:off x="2214564" y="1112015"/>
            <a:ext cx="904873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9FC0801-695F-B2F7-4071-5437E7E80813}"/>
              </a:ext>
            </a:extLst>
          </p:cNvPr>
          <p:cNvCxnSpPr>
            <a:cxnSpLocks/>
          </p:cNvCxnSpPr>
          <p:nvPr/>
        </p:nvCxnSpPr>
        <p:spPr>
          <a:xfrm>
            <a:off x="5728996" y="1502229"/>
            <a:ext cx="0" cy="526246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986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AE3F4-C236-4A69-C55B-F53762167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Annexure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47B59E-9079-E2DD-AB1B-6135232B099E}"/>
              </a:ext>
            </a:extLst>
          </p:cNvPr>
          <p:cNvSpPr txBox="1"/>
          <p:nvPr/>
        </p:nvSpPr>
        <p:spPr>
          <a:xfrm>
            <a:off x="766248" y="1618679"/>
            <a:ext cx="482278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1400" dirty="0"/>
              <a:t>Different </a:t>
            </a:r>
            <a:r>
              <a:rPr lang="en-IN" sz="1400" dirty="0" err="1"/>
              <a:t>color</a:t>
            </a:r>
            <a:r>
              <a:rPr lang="en-IN" sz="1400" dirty="0"/>
              <a:t> segments (categories) provided by the company</a:t>
            </a:r>
          </a:p>
          <a:p>
            <a:endParaRPr lang="en-IN" sz="1400" dirty="0"/>
          </a:p>
          <a:p>
            <a:r>
              <a:rPr lang="en-IN" sz="1400" dirty="0"/>
              <a:t>Query - SELECT DISTINCT (</a:t>
            </a:r>
            <a:r>
              <a:rPr lang="en-IN" sz="1400" dirty="0" err="1"/>
              <a:t>Item_Category</a:t>
            </a:r>
            <a:r>
              <a:rPr lang="en-IN" sz="1400" dirty="0"/>
              <a:t>) AS </a:t>
            </a:r>
            <a:r>
              <a:rPr lang="en-IN" sz="1400" dirty="0" err="1"/>
              <a:t>distinct_color_segments</a:t>
            </a:r>
            <a:endParaRPr lang="en-IN" sz="1400" dirty="0"/>
          </a:p>
          <a:p>
            <a:r>
              <a:rPr lang="en-IN" sz="1400" dirty="0"/>
              <a:t>FROM </a:t>
            </a:r>
            <a:r>
              <a:rPr lang="en-IN" sz="1400" dirty="0" err="1"/>
              <a:t>sqlproject_item</a:t>
            </a:r>
            <a:r>
              <a:rPr lang="en-IN" sz="1400" dirty="0"/>
              <a:t>;</a:t>
            </a:r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54E402-D886-0488-4E8C-628C828B4C6A}"/>
              </a:ext>
            </a:extLst>
          </p:cNvPr>
          <p:cNvSpPr txBox="1"/>
          <p:nvPr/>
        </p:nvSpPr>
        <p:spPr>
          <a:xfrm>
            <a:off x="769478" y="4024207"/>
            <a:ext cx="60943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2. Different Coupon Types offered</a:t>
            </a:r>
          </a:p>
          <a:p>
            <a:endParaRPr lang="en-IN" sz="1400" dirty="0"/>
          </a:p>
          <a:p>
            <a:r>
              <a:rPr lang="en-IN" sz="1400" dirty="0"/>
              <a:t>Query - SELECT DISTINCT(</a:t>
            </a:r>
            <a:r>
              <a:rPr lang="en-IN" sz="1400" dirty="0" err="1"/>
              <a:t>ouponType</a:t>
            </a:r>
            <a:r>
              <a:rPr lang="en-IN" sz="1400" dirty="0"/>
              <a:t>) AS </a:t>
            </a:r>
            <a:r>
              <a:rPr lang="en-IN" sz="1400" dirty="0" err="1"/>
              <a:t>distinct_coupon_types</a:t>
            </a:r>
            <a:endParaRPr lang="en-IN" sz="1400" dirty="0"/>
          </a:p>
          <a:p>
            <a:r>
              <a:rPr lang="en-IN" sz="1400" dirty="0"/>
              <a:t>FROM </a:t>
            </a:r>
            <a:r>
              <a:rPr lang="en-IN" sz="1400" dirty="0" err="1"/>
              <a:t>sqlproject_couponmapping</a:t>
            </a:r>
            <a:r>
              <a:rPr lang="en-IN" sz="1400" dirty="0"/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DF921C-D4E8-F3D1-13B6-16FAA9935687}"/>
              </a:ext>
            </a:extLst>
          </p:cNvPr>
          <p:cNvSpPr txBox="1"/>
          <p:nvPr/>
        </p:nvSpPr>
        <p:spPr>
          <a:xfrm>
            <a:off x="6096000" y="1621114"/>
            <a:ext cx="609755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3. States where the company is delivering</a:t>
            </a:r>
          </a:p>
          <a:p>
            <a:endParaRPr lang="en-IN" sz="1400" dirty="0"/>
          </a:p>
          <a:p>
            <a:r>
              <a:rPr lang="en-IN" sz="1400" dirty="0"/>
              <a:t>Query - SELECT DISTINCT(State) AS </a:t>
            </a:r>
            <a:r>
              <a:rPr lang="en-IN" sz="1400" dirty="0" err="1"/>
              <a:t>distinct_states</a:t>
            </a:r>
            <a:endParaRPr lang="en-IN" sz="1400" dirty="0"/>
          </a:p>
          <a:p>
            <a:r>
              <a:rPr lang="en-IN" sz="1400" dirty="0"/>
              <a:t>FROM </a:t>
            </a:r>
            <a:r>
              <a:rPr lang="en-IN" sz="1400" dirty="0" err="1"/>
              <a:t>sqlproject_citydata</a:t>
            </a:r>
            <a:r>
              <a:rPr lang="en-IN" sz="1400" dirty="0"/>
              <a:t>;</a:t>
            </a:r>
          </a:p>
          <a:p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279A37-6494-A52A-04BB-E080B38EF274}"/>
              </a:ext>
            </a:extLst>
          </p:cNvPr>
          <p:cNvSpPr txBox="1"/>
          <p:nvPr/>
        </p:nvSpPr>
        <p:spPr>
          <a:xfrm>
            <a:off x="6094446" y="4024207"/>
            <a:ext cx="609755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4. Different Order Types</a:t>
            </a:r>
          </a:p>
          <a:p>
            <a:endParaRPr lang="en-IN" sz="1400" dirty="0"/>
          </a:p>
          <a:p>
            <a:r>
              <a:rPr lang="en-IN" sz="1400" dirty="0"/>
              <a:t>Query - SELECT DISTINCT(</a:t>
            </a:r>
            <a:r>
              <a:rPr lang="en-IN" sz="1400" dirty="0" err="1"/>
              <a:t>OrderType</a:t>
            </a:r>
            <a:r>
              <a:rPr lang="en-IN" sz="1400" dirty="0"/>
              <a:t>) AS </a:t>
            </a:r>
            <a:r>
              <a:rPr lang="en-IN" sz="1400" dirty="0" err="1"/>
              <a:t>distinct_order_types</a:t>
            </a:r>
            <a:endParaRPr lang="en-IN" sz="1400" dirty="0"/>
          </a:p>
          <a:p>
            <a:r>
              <a:rPr lang="en-IN" sz="1400" dirty="0"/>
              <a:t>FROM </a:t>
            </a:r>
            <a:r>
              <a:rPr lang="en-IN" sz="1400" dirty="0" err="1"/>
              <a:t>sqlproject_customertransactiondata</a:t>
            </a:r>
            <a:r>
              <a:rPr lang="en-IN" sz="1400" dirty="0"/>
              <a:t>;</a:t>
            </a: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9232766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600D51F-884E-3238-DB59-59170C52AAC1}"/>
              </a:ext>
            </a:extLst>
          </p:cNvPr>
          <p:cNvSpPr txBox="1"/>
          <p:nvPr/>
        </p:nvSpPr>
        <p:spPr>
          <a:xfrm>
            <a:off x="230933" y="314522"/>
            <a:ext cx="6097554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400" dirty="0"/>
              <a:t>5. Total Number of Sales (Transactions)</a:t>
            </a:r>
          </a:p>
          <a:p>
            <a:r>
              <a:rPr lang="en-IN" sz="1400" b="1" i="1" dirty="0"/>
              <a:t>Yearly</a:t>
            </a:r>
          </a:p>
          <a:p>
            <a:r>
              <a:rPr lang="en-IN" sz="1400" dirty="0"/>
              <a:t>Query - SELECT </a:t>
            </a:r>
          </a:p>
          <a:p>
            <a:r>
              <a:rPr lang="en-IN" sz="1400" dirty="0"/>
              <a:t>    YEAR(</a:t>
            </a:r>
            <a:r>
              <a:rPr lang="en-IN" sz="1400" dirty="0" err="1"/>
              <a:t>PurchaseDate</a:t>
            </a:r>
            <a:r>
              <a:rPr lang="en-IN" sz="1400" dirty="0"/>
              <a:t>) AS Year,</a:t>
            </a:r>
          </a:p>
          <a:p>
            <a:r>
              <a:rPr lang="en-IN" sz="1400" dirty="0"/>
              <a:t>    COUNT(*) AS </a:t>
            </a:r>
            <a:r>
              <a:rPr lang="en-IN" sz="1400" dirty="0" err="1"/>
              <a:t>Total_Transactions</a:t>
            </a:r>
            <a:endParaRPr lang="en-IN" sz="1400" dirty="0"/>
          </a:p>
          <a:p>
            <a:r>
              <a:rPr lang="en-IN" sz="1400" dirty="0"/>
              <a:t>FROM </a:t>
            </a:r>
            <a:r>
              <a:rPr lang="en-IN" sz="1400" dirty="0" err="1"/>
              <a:t>sqlproject_customertransactiondata</a:t>
            </a:r>
            <a:endParaRPr lang="en-IN" sz="1400" dirty="0"/>
          </a:p>
          <a:p>
            <a:r>
              <a:rPr lang="en-IN" sz="1400" dirty="0"/>
              <a:t>GROUP BY YEAR(</a:t>
            </a:r>
            <a:r>
              <a:rPr lang="en-IN" sz="1400" dirty="0" err="1"/>
              <a:t>PurchaseDate</a:t>
            </a:r>
            <a:r>
              <a:rPr lang="en-IN" sz="1400" dirty="0"/>
              <a:t>)</a:t>
            </a:r>
          </a:p>
          <a:p>
            <a:r>
              <a:rPr lang="en-IN" sz="1400" dirty="0"/>
              <a:t>ORDER BY Year;</a:t>
            </a:r>
          </a:p>
          <a:p>
            <a:endParaRPr lang="en-IN" sz="1400" dirty="0"/>
          </a:p>
          <a:p>
            <a:r>
              <a:rPr lang="en-IN" sz="1400" b="1" i="1" dirty="0"/>
              <a:t>Quarterly</a:t>
            </a:r>
          </a:p>
          <a:p>
            <a:r>
              <a:rPr lang="en-IN" sz="1400" dirty="0"/>
              <a:t>Query - SELECT </a:t>
            </a:r>
          </a:p>
          <a:p>
            <a:r>
              <a:rPr lang="en-IN" sz="1400" dirty="0"/>
              <a:t>QUARTER(</a:t>
            </a:r>
            <a:r>
              <a:rPr lang="en-IN" sz="1400" dirty="0" err="1"/>
              <a:t>PurchaseDate</a:t>
            </a:r>
            <a:r>
              <a:rPr lang="en-IN" sz="1400" dirty="0"/>
              <a:t>) AS Quarter,</a:t>
            </a:r>
          </a:p>
          <a:p>
            <a:r>
              <a:rPr lang="en-IN" sz="1400" dirty="0"/>
              <a:t>    COUNT(*) AS </a:t>
            </a:r>
            <a:r>
              <a:rPr lang="en-IN" sz="1400" dirty="0" err="1"/>
              <a:t>Total_Transactions</a:t>
            </a:r>
            <a:endParaRPr lang="en-IN" sz="1400" dirty="0"/>
          </a:p>
          <a:p>
            <a:r>
              <a:rPr lang="en-IN" sz="1400" dirty="0"/>
              <a:t>FROM </a:t>
            </a:r>
            <a:r>
              <a:rPr lang="en-IN" sz="1400" dirty="0" err="1"/>
              <a:t>sqlproject_customertransactiondata</a:t>
            </a:r>
            <a:endParaRPr lang="en-IN" sz="1400" dirty="0"/>
          </a:p>
          <a:p>
            <a:r>
              <a:rPr lang="en-IN" sz="1400" dirty="0"/>
              <a:t>GROUP BY QUARTER(</a:t>
            </a:r>
            <a:r>
              <a:rPr lang="en-IN" sz="1400" dirty="0" err="1"/>
              <a:t>PurchaseDate</a:t>
            </a:r>
            <a:r>
              <a:rPr lang="en-IN" sz="1400" dirty="0"/>
              <a:t>)</a:t>
            </a:r>
          </a:p>
          <a:p>
            <a:r>
              <a:rPr lang="en-IN" sz="1400" dirty="0"/>
              <a:t>ORDER BY  Quarter;</a:t>
            </a:r>
          </a:p>
          <a:p>
            <a:endParaRPr lang="en-IN" sz="1400" dirty="0"/>
          </a:p>
          <a:p>
            <a:r>
              <a:rPr lang="en-IN" sz="1400" b="1" i="1" dirty="0"/>
              <a:t>Yearly and Monthly</a:t>
            </a:r>
          </a:p>
          <a:p>
            <a:r>
              <a:rPr lang="en-IN" sz="1400" dirty="0"/>
              <a:t>Query - SELECT </a:t>
            </a:r>
          </a:p>
          <a:p>
            <a:r>
              <a:rPr lang="en-IN" sz="1400" dirty="0"/>
              <a:t>    YEAR(</a:t>
            </a:r>
            <a:r>
              <a:rPr lang="en-IN" sz="1400" dirty="0" err="1"/>
              <a:t>PurchaseDate</a:t>
            </a:r>
            <a:r>
              <a:rPr lang="en-IN" sz="1400" dirty="0"/>
              <a:t>) AS Year,</a:t>
            </a:r>
          </a:p>
          <a:p>
            <a:r>
              <a:rPr lang="en-IN" sz="1400" dirty="0"/>
              <a:t>    MONTH(</a:t>
            </a:r>
            <a:r>
              <a:rPr lang="en-IN" sz="1400" dirty="0" err="1"/>
              <a:t>PurchaseDate</a:t>
            </a:r>
            <a:r>
              <a:rPr lang="en-IN" sz="1400" dirty="0"/>
              <a:t>) AS Month,</a:t>
            </a:r>
          </a:p>
          <a:p>
            <a:r>
              <a:rPr lang="en-IN" sz="1400" dirty="0"/>
              <a:t>    COUNT(*) AS </a:t>
            </a:r>
            <a:r>
              <a:rPr lang="en-IN" sz="1400" dirty="0" err="1"/>
              <a:t>Total_Transactions</a:t>
            </a:r>
            <a:endParaRPr lang="en-IN" sz="1400" dirty="0"/>
          </a:p>
          <a:p>
            <a:r>
              <a:rPr lang="en-IN" sz="1400" dirty="0"/>
              <a:t>FROM </a:t>
            </a:r>
            <a:r>
              <a:rPr lang="en-IN" sz="1400" dirty="0" err="1"/>
              <a:t>sqlproject_customertransactiondata</a:t>
            </a:r>
            <a:endParaRPr lang="en-IN" sz="1400" dirty="0"/>
          </a:p>
          <a:p>
            <a:r>
              <a:rPr lang="en-IN" sz="1400" dirty="0"/>
              <a:t>GROUP BY YEAR(</a:t>
            </a:r>
            <a:r>
              <a:rPr lang="en-IN" sz="1400" dirty="0" err="1"/>
              <a:t>PurchaseDate</a:t>
            </a:r>
            <a:r>
              <a:rPr lang="en-IN" sz="1400" dirty="0"/>
              <a:t>), MONTH(</a:t>
            </a:r>
            <a:r>
              <a:rPr lang="en-IN" sz="1400" dirty="0" err="1"/>
              <a:t>PurchaseDate</a:t>
            </a:r>
            <a:r>
              <a:rPr lang="en-IN" sz="1400" dirty="0"/>
              <a:t>)</a:t>
            </a:r>
          </a:p>
          <a:p>
            <a:r>
              <a:rPr lang="en-IN" sz="1400" dirty="0"/>
              <a:t>ORDER BY Year, Month;</a:t>
            </a:r>
          </a:p>
          <a:p>
            <a:endParaRPr lang="en-IN" sz="1400" dirty="0"/>
          </a:p>
          <a:p>
            <a:endParaRPr lang="en-IN" sz="1400" b="1" i="1" dirty="0"/>
          </a:p>
          <a:p>
            <a:endParaRPr lang="en-I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01E610-3378-3269-7E4F-E73CCBE60D1D}"/>
              </a:ext>
            </a:extLst>
          </p:cNvPr>
          <p:cNvSpPr txBox="1"/>
          <p:nvPr/>
        </p:nvSpPr>
        <p:spPr>
          <a:xfrm>
            <a:off x="7134225" y="251103"/>
            <a:ext cx="4419600" cy="7540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6. Total Purchase Order Amount</a:t>
            </a:r>
          </a:p>
          <a:p>
            <a:r>
              <a:rPr lang="en-IN" sz="1100" b="1" dirty="0"/>
              <a:t>Product Category</a:t>
            </a:r>
          </a:p>
          <a:p>
            <a:r>
              <a:rPr lang="en-IN" sz="1100" dirty="0"/>
              <a:t>Query - SELECT </a:t>
            </a:r>
          </a:p>
          <a:p>
            <a:r>
              <a:rPr lang="en-IN" sz="1100" dirty="0"/>
              <a:t>    </a:t>
            </a:r>
            <a:r>
              <a:rPr lang="en-IN" sz="1100" dirty="0" err="1"/>
              <a:t>i.Item_Category</a:t>
            </a:r>
            <a:r>
              <a:rPr lang="en-IN" sz="1100" dirty="0"/>
              <a:t>,</a:t>
            </a:r>
          </a:p>
          <a:p>
            <a:r>
              <a:rPr lang="en-IN" sz="1100" dirty="0"/>
              <a:t>    SUM(</a:t>
            </a:r>
            <a:r>
              <a:rPr lang="en-IN" sz="1100" dirty="0" err="1"/>
              <a:t>ct.PurchasingAmt</a:t>
            </a:r>
            <a:r>
              <a:rPr lang="en-IN" sz="1100" dirty="0"/>
              <a:t>) AS </a:t>
            </a:r>
            <a:r>
              <a:rPr lang="en-IN" sz="1100" dirty="0" err="1"/>
              <a:t>Total_Purchase</a:t>
            </a:r>
            <a:endParaRPr lang="en-IN" sz="1100" dirty="0"/>
          </a:p>
          <a:p>
            <a:r>
              <a:rPr lang="en-IN" sz="1100" dirty="0"/>
              <a:t>FROM </a:t>
            </a:r>
            <a:r>
              <a:rPr lang="en-IN" sz="1100" dirty="0" err="1"/>
              <a:t>sqlproject_customertransactiondata</a:t>
            </a:r>
            <a:r>
              <a:rPr lang="en-IN" sz="1100" dirty="0"/>
              <a:t> </a:t>
            </a:r>
            <a:r>
              <a:rPr lang="en-IN" sz="1100" dirty="0" err="1"/>
              <a:t>ct</a:t>
            </a:r>
            <a:endParaRPr lang="en-IN" sz="1100" dirty="0"/>
          </a:p>
          <a:p>
            <a:r>
              <a:rPr lang="en-IN" sz="1100" dirty="0"/>
              <a:t>JOIN </a:t>
            </a:r>
            <a:r>
              <a:rPr lang="en-IN" sz="1100" dirty="0" err="1"/>
              <a:t>sqlproject_item</a:t>
            </a:r>
            <a:r>
              <a:rPr lang="en-IN" sz="1100" dirty="0"/>
              <a:t> </a:t>
            </a:r>
            <a:r>
              <a:rPr lang="en-IN" sz="1100" dirty="0" err="1"/>
              <a:t>i</a:t>
            </a:r>
            <a:r>
              <a:rPr lang="en-IN" sz="1100" dirty="0"/>
              <a:t> </a:t>
            </a:r>
          </a:p>
          <a:p>
            <a:r>
              <a:rPr lang="en-IN" sz="1100" dirty="0"/>
              <a:t>    ON </a:t>
            </a:r>
            <a:r>
              <a:rPr lang="en-IN" sz="1100" dirty="0" err="1"/>
              <a:t>ct.Item_Id</a:t>
            </a:r>
            <a:r>
              <a:rPr lang="en-IN" sz="1100" dirty="0"/>
              <a:t> = </a:t>
            </a:r>
            <a:r>
              <a:rPr lang="en-IN" sz="1100" dirty="0" err="1"/>
              <a:t>i.Item_Id</a:t>
            </a:r>
            <a:endParaRPr lang="en-IN" sz="1100" dirty="0"/>
          </a:p>
          <a:p>
            <a:r>
              <a:rPr lang="en-IN" sz="1100" dirty="0"/>
              <a:t>GROUP BY </a:t>
            </a:r>
            <a:r>
              <a:rPr lang="en-IN" sz="1100" dirty="0" err="1"/>
              <a:t>i.Item_Category</a:t>
            </a:r>
            <a:endParaRPr lang="en-IN" sz="1100" dirty="0"/>
          </a:p>
          <a:p>
            <a:r>
              <a:rPr lang="en-IN" sz="1100" dirty="0"/>
              <a:t>ORDER BY </a:t>
            </a:r>
            <a:r>
              <a:rPr lang="en-IN" sz="1100" dirty="0" err="1"/>
              <a:t>Total_Purchase</a:t>
            </a:r>
            <a:r>
              <a:rPr lang="en-IN" sz="1100" dirty="0"/>
              <a:t> DESC;</a:t>
            </a:r>
          </a:p>
          <a:p>
            <a:endParaRPr lang="en-IN" sz="1100" dirty="0"/>
          </a:p>
          <a:p>
            <a:r>
              <a:rPr lang="en-IN" sz="1100" b="1" dirty="0"/>
              <a:t>Yearly &amp; Quarterly</a:t>
            </a:r>
          </a:p>
          <a:p>
            <a:r>
              <a:rPr lang="en-IN" sz="1100" dirty="0"/>
              <a:t>Query - SELECT </a:t>
            </a:r>
          </a:p>
          <a:p>
            <a:r>
              <a:rPr lang="en-IN" sz="1100" dirty="0"/>
              <a:t>    YEAR(</a:t>
            </a:r>
            <a:r>
              <a:rPr lang="en-IN" sz="1100" dirty="0" err="1"/>
              <a:t>PurchaseDate</a:t>
            </a:r>
            <a:r>
              <a:rPr lang="en-IN" sz="1100" dirty="0"/>
              <a:t>) AS Year,</a:t>
            </a:r>
          </a:p>
          <a:p>
            <a:r>
              <a:rPr lang="en-IN" sz="1100" dirty="0"/>
              <a:t>    QUARTER(</a:t>
            </a:r>
            <a:r>
              <a:rPr lang="en-IN" sz="1100" dirty="0" err="1"/>
              <a:t>PurchaseDate</a:t>
            </a:r>
            <a:r>
              <a:rPr lang="en-IN" sz="1100" dirty="0"/>
              <a:t>) AS Quarter,</a:t>
            </a:r>
          </a:p>
          <a:p>
            <a:r>
              <a:rPr lang="en-IN" sz="1100" dirty="0"/>
              <a:t>    SUM(</a:t>
            </a:r>
            <a:r>
              <a:rPr lang="en-IN" sz="1100" dirty="0" err="1"/>
              <a:t>PurchasingAmt</a:t>
            </a:r>
            <a:r>
              <a:rPr lang="en-IN" sz="1100" dirty="0"/>
              <a:t>) AS </a:t>
            </a:r>
            <a:r>
              <a:rPr lang="en-IN" sz="1100" dirty="0" err="1"/>
              <a:t>Total_Purchase</a:t>
            </a:r>
            <a:endParaRPr lang="en-IN" sz="1100" dirty="0"/>
          </a:p>
          <a:p>
            <a:r>
              <a:rPr lang="en-IN" sz="1100" dirty="0"/>
              <a:t>FROM </a:t>
            </a:r>
            <a:r>
              <a:rPr lang="en-IN" sz="1100" dirty="0" err="1"/>
              <a:t>sqlproject_customertransactiondata</a:t>
            </a:r>
            <a:endParaRPr lang="en-IN" sz="1100" dirty="0"/>
          </a:p>
          <a:p>
            <a:r>
              <a:rPr lang="en-IN" sz="1100" dirty="0"/>
              <a:t>GROUP BY YEAR(</a:t>
            </a:r>
            <a:r>
              <a:rPr lang="en-IN" sz="1100" dirty="0" err="1"/>
              <a:t>PurchaseDate</a:t>
            </a:r>
            <a:r>
              <a:rPr lang="en-IN" sz="1100" dirty="0"/>
              <a:t>), QUARTER(</a:t>
            </a:r>
            <a:r>
              <a:rPr lang="en-IN" sz="1100" dirty="0" err="1"/>
              <a:t>PurchaseDate</a:t>
            </a:r>
            <a:r>
              <a:rPr lang="en-IN" sz="1100" dirty="0"/>
              <a:t>)</a:t>
            </a:r>
          </a:p>
          <a:p>
            <a:r>
              <a:rPr lang="en-IN" sz="1100" dirty="0"/>
              <a:t>ORDER BY Year, Quarter;</a:t>
            </a:r>
          </a:p>
          <a:p>
            <a:endParaRPr lang="en-IN" sz="1100" dirty="0"/>
          </a:p>
          <a:p>
            <a:r>
              <a:rPr lang="en-IN" sz="1100" b="1" i="1" dirty="0"/>
              <a:t>City Tier</a:t>
            </a:r>
          </a:p>
          <a:p>
            <a:r>
              <a:rPr lang="en-IN" sz="1100" dirty="0"/>
              <a:t>Query - SELECT </a:t>
            </a:r>
          </a:p>
          <a:p>
            <a:r>
              <a:rPr lang="en-IN" sz="1100" dirty="0"/>
              <a:t>    </a:t>
            </a:r>
            <a:r>
              <a:rPr lang="en-IN" sz="1100" dirty="0" err="1"/>
              <a:t>cd.CityTier</a:t>
            </a:r>
            <a:r>
              <a:rPr lang="en-IN" sz="1100" dirty="0"/>
              <a:t>,</a:t>
            </a:r>
          </a:p>
          <a:p>
            <a:r>
              <a:rPr lang="en-IN" sz="1100" dirty="0"/>
              <a:t>    SUM(</a:t>
            </a:r>
            <a:r>
              <a:rPr lang="en-IN" sz="1100" dirty="0" err="1"/>
              <a:t>ct.PurchasingAmt</a:t>
            </a:r>
            <a:r>
              <a:rPr lang="en-IN" sz="1100" dirty="0"/>
              <a:t>) AS </a:t>
            </a:r>
            <a:r>
              <a:rPr lang="en-IN" sz="1100" dirty="0" err="1"/>
              <a:t>Total_Purchase</a:t>
            </a:r>
            <a:endParaRPr lang="en-IN" sz="1100" dirty="0"/>
          </a:p>
          <a:p>
            <a:r>
              <a:rPr lang="en-IN" sz="1100" dirty="0"/>
              <a:t>FROM </a:t>
            </a:r>
            <a:r>
              <a:rPr lang="en-IN" sz="1100" dirty="0" err="1"/>
              <a:t>sqlproject_customertransactiondata</a:t>
            </a:r>
            <a:r>
              <a:rPr lang="en-IN" sz="1100" dirty="0"/>
              <a:t> </a:t>
            </a:r>
            <a:r>
              <a:rPr lang="en-IN" sz="1100" dirty="0" err="1"/>
              <a:t>ct</a:t>
            </a:r>
            <a:endParaRPr lang="en-IN" sz="1100" dirty="0"/>
          </a:p>
          <a:p>
            <a:r>
              <a:rPr lang="en-IN" sz="1100" dirty="0"/>
              <a:t>JOIN </a:t>
            </a:r>
            <a:r>
              <a:rPr lang="en-IN" sz="1100" dirty="0" err="1"/>
              <a:t>sqlproject_customer</a:t>
            </a:r>
            <a:r>
              <a:rPr lang="en-IN" sz="1100" dirty="0"/>
              <a:t> c </a:t>
            </a:r>
          </a:p>
          <a:p>
            <a:r>
              <a:rPr lang="en-IN" sz="1100" dirty="0"/>
              <a:t>    ON </a:t>
            </a:r>
            <a:r>
              <a:rPr lang="en-IN" sz="1100" dirty="0" err="1"/>
              <a:t>ct.Cust_Id</a:t>
            </a:r>
            <a:r>
              <a:rPr lang="en-IN" sz="1100" dirty="0"/>
              <a:t> = </a:t>
            </a:r>
            <a:r>
              <a:rPr lang="en-IN" sz="1100" dirty="0" err="1"/>
              <a:t>c.Customer_Id</a:t>
            </a:r>
            <a:endParaRPr lang="en-IN" sz="1100" dirty="0"/>
          </a:p>
          <a:p>
            <a:r>
              <a:rPr lang="en-IN" sz="1100" dirty="0"/>
              <a:t>JOIN </a:t>
            </a:r>
            <a:r>
              <a:rPr lang="en-IN" sz="1100" dirty="0" err="1"/>
              <a:t>sqlproject_citydata</a:t>
            </a:r>
            <a:r>
              <a:rPr lang="en-IN" sz="1100" dirty="0"/>
              <a:t> cd</a:t>
            </a:r>
          </a:p>
          <a:p>
            <a:r>
              <a:rPr lang="en-IN" sz="1100" dirty="0"/>
              <a:t>    ON </a:t>
            </a:r>
            <a:r>
              <a:rPr lang="en-IN" sz="1100" dirty="0" err="1"/>
              <a:t>c.City_Id</a:t>
            </a:r>
            <a:r>
              <a:rPr lang="en-IN" sz="1100" dirty="0"/>
              <a:t> = </a:t>
            </a:r>
            <a:r>
              <a:rPr lang="en-IN" sz="1100" dirty="0" err="1"/>
              <a:t>cd.City_Id</a:t>
            </a:r>
            <a:endParaRPr lang="en-IN" sz="1100" dirty="0"/>
          </a:p>
          <a:p>
            <a:r>
              <a:rPr lang="en-IN" sz="1100" dirty="0"/>
              <a:t>GROUP BY </a:t>
            </a:r>
            <a:r>
              <a:rPr lang="en-IN" sz="1100" dirty="0" err="1"/>
              <a:t>cd.CityTier</a:t>
            </a:r>
            <a:endParaRPr lang="en-IN" sz="1100" dirty="0"/>
          </a:p>
          <a:p>
            <a:r>
              <a:rPr lang="en-IN" sz="1100" dirty="0"/>
              <a:t>ORDER BY </a:t>
            </a:r>
            <a:r>
              <a:rPr lang="en-IN" sz="1100" dirty="0" err="1"/>
              <a:t>cd.CityTier</a:t>
            </a:r>
            <a:r>
              <a:rPr lang="en-IN" sz="1100" dirty="0"/>
              <a:t>;</a:t>
            </a:r>
          </a:p>
          <a:p>
            <a:endParaRPr lang="en-IN" sz="1100" dirty="0"/>
          </a:p>
          <a:p>
            <a:r>
              <a:rPr lang="en-IN" sz="1100" b="1" i="1" dirty="0"/>
              <a:t>Order Type</a:t>
            </a:r>
          </a:p>
          <a:p>
            <a:r>
              <a:rPr lang="en-IN" sz="1100" dirty="0"/>
              <a:t>SELECT </a:t>
            </a:r>
          </a:p>
          <a:p>
            <a:r>
              <a:rPr lang="en-IN" sz="1100" dirty="0"/>
              <a:t>    </a:t>
            </a:r>
            <a:r>
              <a:rPr lang="en-IN" sz="1100" dirty="0" err="1"/>
              <a:t>OrderType</a:t>
            </a:r>
            <a:r>
              <a:rPr lang="en-IN" sz="1100" dirty="0"/>
              <a:t>,</a:t>
            </a:r>
          </a:p>
          <a:p>
            <a:r>
              <a:rPr lang="en-IN" sz="1100" dirty="0"/>
              <a:t>    SUM(</a:t>
            </a:r>
            <a:r>
              <a:rPr lang="en-IN" sz="1100" dirty="0" err="1"/>
              <a:t>PurchasingAmt</a:t>
            </a:r>
            <a:r>
              <a:rPr lang="en-IN" sz="1100" dirty="0"/>
              <a:t>) AS </a:t>
            </a:r>
            <a:r>
              <a:rPr lang="en-IN" sz="1100" dirty="0" err="1"/>
              <a:t>Total_Purchase</a:t>
            </a:r>
            <a:endParaRPr lang="en-IN" sz="1100" dirty="0"/>
          </a:p>
          <a:p>
            <a:r>
              <a:rPr lang="en-IN" sz="1100" dirty="0"/>
              <a:t>FROM </a:t>
            </a:r>
            <a:r>
              <a:rPr lang="en-IN" sz="1100" dirty="0" err="1"/>
              <a:t>sqlproject_customertransactiondata</a:t>
            </a:r>
            <a:endParaRPr lang="en-IN" sz="1100" dirty="0"/>
          </a:p>
          <a:p>
            <a:r>
              <a:rPr lang="en-IN" sz="1100" dirty="0"/>
              <a:t>GROUP BY </a:t>
            </a:r>
            <a:r>
              <a:rPr lang="en-IN" sz="1100" dirty="0" err="1"/>
              <a:t>OrderType</a:t>
            </a:r>
            <a:r>
              <a:rPr lang="en-IN" sz="1100" dirty="0"/>
              <a:t>;</a:t>
            </a:r>
          </a:p>
          <a:p>
            <a:endParaRPr lang="en-IN" sz="1100" dirty="0"/>
          </a:p>
          <a:p>
            <a:endParaRPr lang="en-IN" sz="1100" b="1" i="1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1389724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B909DF-6E35-21BB-2AC5-9E6151E7BBAB}"/>
              </a:ext>
            </a:extLst>
          </p:cNvPr>
          <p:cNvSpPr txBox="1"/>
          <p:nvPr/>
        </p:nvSpPr>
        <p:spPr>
          <a:xfrm>
            <a:off x="176213" y="267385"/>
            <a:ext cx="61055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7. Total transactions WITH campaign coupon vs WITHOUT campaign coupon</a:t>
            </a:r>
          </a:p>
          <a:p>
            <a:endParaRPr lang="en-IN" sz="1200" dirty="0"/>
          </a:p>
          <a:p>
            <a:r>
              <a:rPr lang="en-IN" sz="1200" dirty="0"/>
              <a:t>Query - SELECT</a:t>
            </a:r>
          </a:p>
          <a:p>
            <a:r>
              <a:rPr lang="en-IN" sz="1200" dirty="0"/>
              <a:t>    SUM(CASE WHEN </a:t>
            </a:r>
            <a:r>
              <a:rPr lang="en-IN" sz="1200" dirty="0" err="1"/>
              <a:t>campaign_id</a:t>
            </a:r>
            <a:r>
              <a:rPr lang="en-IN" sz="1200" dirty="0"/>
              <a:t> IS NOT NULL THEN 1 ELSE 0 END) AS </a:t>
            </a:r>
            <a:r>
              <a:rPr lang="en-IN" sz="1200" dirty="0" err="1"/>
              <a:t>transactions_with_campaign_coupon</a:t>
            </a:r>
            <a:r>
              <a:rPr lang="en-IN" sz="1200" dirty="0"/>
              <a:t>,</a:t>
            </a:r>
          </a:p>
          <a:p>
            <a:r>
              <a:rPr lang="en-IN" sz="1200" dirty="0"/>
              <a:t>    SUM(CASE WHEN </a:t>
            </a:r>
            <a:r>
              <a:rPr lang="en-IN" sz="1200" dirty="0" err="1"/>
              <a:t>campaign_id</a:t>
            </a:r>
            <a:r>
              <a:rPr lang="en-IN" sz="1200" dirty="0"/>
              <a:t> IS NULL THEN 1 ELSE 0 END) AS </a:t>
            </a:r>
            <a:r>
              <a:rPr lang="en-IN" sz="1200" dirty="0" err="1"/>
              <a:t>transactions_without_campaign_coupon</a:t>
            </a:r>
            <a:endParaRPr lang="en-IN" sz="1200" dirty="0"/>
          </a:p>
          <a:p>
            <a:r>
              <a:rPr lang="en-IN" sz="1200" dirty="0"/>
              <a:t>FROM </a:t>
            </a:r>
            <a:r>
              <a:rPr lang="en-IN" sz="1200" dirty="0" err="1"/>
              <a:t>sqlproject_customertransactiondata</a:t>
            </a:r>
            <a:r>
              <a:rPr lang="en-IN" sz="1200" dirty="0"/>
              <a:t>;</a:t>
            </a:r>
          </a:p>
          <a:p>
            <a:endParaRPr lang="en-IN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9B3DA5-95B9-EBC2-26F0-13AB78323242}"/>
              </a:ext>
            </a:extLst>
          </p:cNvPr>
          <p:cNvSpPr txBox="1"/>
          <p:nvPr/>
        </p:nvSpPr>
        <p:spPr>
          <a:xfrm>
            <a:off x="176213" y="2183695"/>
            <a:ext cx="6105524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8. Customers whose FIRST purchase was WITH or WITHOUT campaign coupon</a:t>
            </a:r>
          </a:p>
          <a:p>
            <a:endParaRPr lang="en-IN" sz="1100" dirty="0"/>
          </a:p>
          <a:p>
            <a:endParaRPr lang="en-IN" sz="1100" dirty="0"/>
          </a:p>
          <a:p>
            <a:r>
              <a:rPr lang="en-IN" sz="1100" dirty="0"/>
              <a:t>Query - WITH </a:t>
            </a:r>
            <a:r>
              <a:rPr lang="en-IN" sz="1100" dirty="0" err="1"/>
              <a:t>first_purchase</a:t>
            </a:r>
            <a:r>
              <a:rPr lang="en-IN" sz="1100" dirty="0"/>
              <a:t> AS (</a:t>
            </a:r>
          </a:p>
          <a:p>
            <a:r>
              <a:rPr lang="en-IN" sz="1100" dirty="0"/>
              <a:t>    SELECT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Cust_Id</a:t>
            </a:r>
            <a:r>
              <a:rPr lang="en-IN" sz="1100" dirty="0"/>
              <a:t>,</a:t>
            </a:r>
          </a:p>
          <a:p>
            <a:r>
              <a:rPr lang="en-IN" sz="1100" dirty="0"/>
              <a:t>        MIN(</a:t>
            </a:r>
            <a:r>
              <a:rPr lang="en-IN" sz="1100" dirty="0" err="1"/>
              <a:t>PurchaseDate</a:t>
            </a:r>
            <a:r>
              <a:rPr lang="en-IN" sz="1100" dirty="0"/>
              <a:t>) AS </a:t>
            </a:r>
            <a:r>
              <a:rPr lang="en-IN" sz="1100" dirty="0" err="1"/>
              <a:t>FirstPurchaseDate</a:t>
            </a:r>
            <a:endParaRPr lang="en-IN" sz="1100" dirty="0"/>
          </a:p>
          <a:p>
            <a:r>
              <a:rPr lang="en-IN" sz="1100" dirty="0"/>
              <a:t>    FROM </a:t>
            </a:r>
            <a:r>
              <a:rPr lang="en-IN" sz="1100" dirty="0" err="1"/>
              <a:t>sqlproject_customertransactiondata</a:t>
            </a:r>
            <a:endParaRPr lang="en-IN" sz="1100" dirty="0"/>
          </a:p>
          <a:p>
            <a:r>
              <a:rPr lang="en-IN" sz="1100" dirty="0"/>
              <a:t>    GROUP BY </a:t>
            </a:r>
            <a:r>
              <a:rPr lang="en-IN" sz="1100" dirty="0" err="1"/>
              <a:t>Cust_Id</a:t>
            </a:r>
            <a:endParaRPr lang="en-IN" sz="1100" dirty="0"/>
          </a:p>
          <a:p>
            <a:r>
              <a:rPr lang="en-IN" sz="1100" dirty="0"/>
              <a:t>),</a:t>
            </a:r>
          </a:p>
          <a:p>
            <a:r>
              <a:rPr lang="en-IN" sz="1100" dirty="0" err="1"/>
              <a:t>first_purchase_details</a:t>
            </a:r>
            <a:r>
              <a:rPr lang="en-IN" sz="1100" dirty="0"/>
              <a:t> AS (</a:t>
            </a:r>
          </a:p>
          <a:p>
            <a:r>
              <a:rPr lang="en-IN" sz="1100" dirty="0"/>
              <a:t>    SELECT 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f.Cust_Id</a:t>
            </a:r>
            <a:r>
              <a:rPr lang="en-IN" sz="1100" dirty="0"/>
              <a:t>,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ctd.campaign_id</a:t>
            </a:r>
            <a:endParaRPr lang="en-IN" sz="1100" dirty="0"/>
          </a:p>
          <a:p>
            <a:r>
              <a:rPr lang="en-IN" sz="1100" dirty="0"/>
              <a:t>    FROM </a:t>
            </a:r>
            <a:r>
              <a:rPr lang="en-IN" sz="1100" dirty="0" err="1"/>
              <a:t>first_purchase</a:t>
            </a:r>
            <a:r>
              <a:rPr lang="en-IN" sz="1100" dirty="0"/>
              <a:t> f</a:t>
            </a:r>
          </a:p>
          <a:p>
            <a:r>
              <a:rPr lang="en-IN" sz="1100" dirty="0"/>
              <a:t>    JOIN </a:t>
            </a:r>
            <a:r>
              <a:rPr lang="en-IN" sz="1100" dirty="0" err="1"/>
              <a:t>sqlproject_customertransactiondata</a:t>
            </a:r>
            <a:r>
              <a:rPr lang="en-IN" sz="1100" dirty="0"/>
              <a:t> </a:t>
            </a:r>
            <a:r>
              <a:rPr lang="en-IN" sz="1100" dirty="0" err="1"/>
              <a:t>ctd</a:t>
            </a:r>
            <a:endParaRPr lang="en-IN" sz="1100" dirty="0"/>
          </a:p>
          <a:p>
            <a:r>
              <a:rPr lang="en-IN" sz="1100" dirty="0"/>
              <a:t>        ON </a:t>
            </a:r>
            <a:r>
              <a:rPr lang="en-IN" sz="1100" dirty="0" err="1"/>
              <a:t>f.Cust_Id</a:t>
            </a:r>
            <a:r>
              <a:rPr lang="en-IN" sz="1100" dirty="0"/>
              <a:t> = </a:t>
            </a:r>
            <a:r>
              <a:rPr lang="en-IN" sz="1100" dirty="0" err="1"/>
              <a:t>ctd.Cust_Id</a:t>
            </a:r>
            <a:endParaRPr lang="en-IN" sz="1100" dirty="0"/>
          </a:p>
          <a:p>
            <a:r>
              <a:rPr lang="en-IN" sz="1100" dirty="0"/>
              <a:t>        AND </a:t>
            </a:r>
            <a:r>
              <a:rPr lang="en-IN" sz="1100" dirty="0" err="1"/>
              <a:t>f.FirstPurchaseDate</a:t>
            </a:r>
            <a:r>
              <a:rPr lang="en-IN" sz="1100" dirty="0"/>
              <a:t> = </a:t>
            </a:r>
            <a:r>
              <a:rPr lang="en-IN" sz="1100" dirty="0" err="1"/>
              <a:t>ctd.PurchaseDate</a:t>
            </a:r>
            <a:endParaRPr lang="en-IN" sz="1100" dirty="0"/>
          </a:p>
          <a:p>
            <a:r>
              <a:rPr lang="en-IN" sz="1100" dirty="0"/>
              <a:t>)</a:t>
            </a:r>
          </a:p>
          <a:p>
            <a:r>
              <a:rPr lang="en-IN" sz="1100" dirty="0"/>
              <a:t>SELECT</a:t>
            </a:r>
          </a:p>
          <a:p>
            <a:r>
              <a:rPr lang="en-IN" sz="1100" dirty="0"/>
              <a:t>    SUM(CASE WHEN </a:t>
            </a:r>
            <a:r>
              <a:rPr lang="en-IN" sz="1100" dirty="0" err="1"/>
              <a:t>campaign_id</a:t>
            </a:r>
            <a:r>
              <a:rPr lang="en-IN" sz="1100" dirty="0"/>
              <a:t> IS NOT NULL THEN 1 ELSE 0 END) AS </a:t>
            </a:r>
            <a:r>
              <a:rPr lang="en-IN" sz="1100" dirty="0" err="1"/>
              <a:t>customers_first_purchase_with_campaign</a:t>
            </a:r>
            <a:r>
              <a:rPr lang="en-IN" sz="1100" dirty="0"/>
              <a:t>,</a:t>
            </a:r>
          </a:p>
          <a:p>
            <a:r>
              <a:rPr lang="en-IN" sz="1100" dirty="0"/>
              <a:t>    SUM(CASE WHEN </a:t>
            </a:r>
            <a:r>
              <a:rPr lang="en-IN" sz="1100" dirty="0" err="1"/>
              <a:t>campaign_id</a:t>
            </a:r>
            <a:r>
              <a:rPr lang="en-IN" sz="1100" dirty="0"/>
              <a:t> IS NULL THEN 1 ELSE 0 END) AS </a:t>
            </a:r>
            <a:r>
              <a:rPr lang="en-IN" sz="1100" dirty="0" err="1"/>
              <a:t>customers_first_purchase_without_campaign</a:t>
            </a:r>
            <a:endParaRPr lang="en-IN" sz="1100" dirty="0"/>
          </a:p>
          <a:p>
            <a:r>
              <a:rPr lang="en-IN" sz="1100" dirty="0"/>
              <a:t>FROM </a:t>
            </a:r>
            <a:r>
              <a:rPr lang="en-IN" sz="1100" dirty="0" err="1"/>
              <a:t>first_purchase_details</a:t>
            </a:r>
            <a:r>
              <a:rPr lang="en-IN" sz="1100" dirty="0"/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FF191-309E-D626-66A8-FE457DEFDF8F}"/>
              </a:ext>
            </a:extLst>
          </p:cNvPr>
          <p:cNvSpPr txBox="1"/>
          <p:nvPr/>
        </p:nvSpPr>
        <p:spPr>
          <a:xfrm>
            <a:off x="6086476" y="267385"/>
            <a:ext cx="610552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9. Unique users WITH vs WITHOUT campaign coupons</a:t>
            </a:r>
          </a:p>
          <a:p>
            <a:endParaRPr lang="en-IN" sz="1200" dirty="0"/>
          </a:p>
          <a:p>
            <a:r>
              <a:rPr lang="en-IN" sz="1200" dirty="0"/>
              <a:t>Query - SELECT</a:t>
            </a:r>
          </a:p>
          <a:p>
            <a:r>
              <a:rPr lang="en-IN" sz="1200" dirty="0"/>
              <a:t>    COUNT(DISTINCT CASE WHEN </a:t>
            </a:r>
            <a:r>
              <a:rPr lang="en-IN" sz="1200" dirty="0" err="1"/>
              <a:t>campaign_id</a:t>
            </a:r>
            <a:r>
              <a:rPr lang="en-IN" sz="1200" dirty="0"/>
              <a:t> IS NOT NULL THEN </a:t>
            </a:r>
            <a:r>
              <a:rPr lang="en-IN" sz="1200" dirty="0" err="1"/>
              <a:t>Cust_Id</a:t>
            </a:r>
            <a:r>
              <a:rPr lang="en-IN" sz="1200" dirty="0"/>
              <a:t> END) AS </a:t>
            </a:r>
            <a:r>
              <a:rPr lang="en-IN" sz="1200" dirty="0" err="1"/>
              <a:t>unique_users_with_campaign_coupon</a:t>
            </a:r>
            <a:r>
              <a:rPr lang="en-IN" sz="1200" dirty="0"/>
              <a:t>,</a:t>
            </a:r>
          </a:p>
          <a:p>
            <a:r>
              <a:rPr lang="en-IN" sz="1200" dirty="0"/>
              <a:t>    COUNT(DISTINCT CASE WHEN </a:t>
            </a:r>
            <a:r>
              <a:rPr lang="en-IN" sz="1200" dirty="0" err="1"/>
              <a:t>campaign_id</a:t>
            </a:r>
            <a:r>
              <a:rPr lang="en-IN" sz="1200" dirty="0"/>
              <a:t> IS NULL THEN </a:t>
            </a:r>
            <a:r>
              <a:rPr lang="en-IN" sz="1200" dirty="0" err="1"/>
              <a:t>Cust_Id</a:t>
            </a:r>
            <a:r>
              <a:rPr lang="en-IN" sz="1200" dirty="0"/>
              <a:t> END) AS </a:t>
            </a:r>
            <a:r>
              <a:rPr lang="en-IN" sz="1200" dirty="0" err="1"/>
              <a:t>unique_users_without_campaign_coupon</a:t>
            </a:r>
            <a:endParaRPr lang="en-IN" sz="1200" dirty="0"/>
          </a:p>
          <a:p>
            <a:r>
              <a:rPr lang="en-IN" sz="1200" dirty="0"/>
              <a:t>FROM </a:t>
            </a:r>
            <a:r>
              <a:rPr lang="en-IN" sz="1200" dirty="0" err="1"/>
              <a:t>sqlproject_customertransactiondata</a:t>
            </a:r>
            <a:r>
              <a:rPr lang="en-IN" sz="1200" dirty="0"/>
              <a:t>;</a:t>
            </a:r>
          </a:p>
          <a:p>
            <a:endParaRPr lang="en-IN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DDBF68E-414C-005A-BDB4-9C81F6AFEF46}"/>
              </a:ext>
            </a:extLst>
          </p:cNvPr>
          <p:cNvSpPr txBox="1"/>
          <p:nvPr/>
        </p:nvSpPr>
        <p:spPr>
          <a:xfrm>
            <a:off x="6086476" y="2203117"/>
            <a:ext cx="5800724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/>
              <a:t>10. Purchase amount comparison: campaign coupons vs normal coupons vs no coupons</a:t>
            </a:r>
          </a:p>
          <a:p>
            <a:endParaRPr lang="en-IN" sz="1200" dirty="0"/>
          </a:p>
          <a:p>
            <a:r>
              <a:rPr lang="en-IN" sz="1200" dirty="0"/>
              <a:t>Query -  SELECT</a:t>
            </a:r>
          </a:p>
          <a:p>
            <a:r>
              <a:rPr lang="en-IN" sz="1200" dirty="0"/>
              <a:t>    SUM(CASE WHEN </a:t>
            </a:r>
            <a:r>
              <a:rPr lang="en-IN" sz="1200" dirty="0" err="1"/>
              <a:t>campaign_id</a:t>
            </a:r>
            <a:r>
              <a:rPr lang="en-IN" sz="1200" dirty="0"/>
              <a:t> IS NOT NULL THEN </a:t>
            </a:r>
            <a:r>
              <a:rPr lang="en-IN" sz="1200" dirty="0" err="1"/>
              <a:t>PurchasingAmt</a:t>
            </a:r>
            <a:r>
              <a:rPr lang="en-IN" sz="1200" dirty="0"/>
              <a:t> END) AS </a:t>
            </a:r>
            <a:r>
              <a:rPr lang="en-IN" sz="1200" dirty="0" err="1"/>
              <a:t>purchase_amt_campaign_coupon</a:t>
            </a:r>
            <a:r>
              <a:rPr lang="en-IN" sz="1200" dirty="0"/>
              <a:t>,</a:t>
            </a:r>
          </a:p>
          <a:p>
            <a:r>
              <a:rPr lang="en-IN" sz="1200" dirty="0"/>
              <a:t>    SUM(CASE WHEN </a:t>
            </a:r>
            <a:r>
              <a:rPr lang="en-IN" sz="1200" dirty="0" err="1"/>
              <a:t>campaign_id</a:t>
            </a:r>
            <a:r>
              <a:rPr lang="en-IN" sz="1200" dirty="0"/>
              <a:t> IS NULL AND </a:t>
            </a:r>
            <a:r>
              <a:rPr lang="en-IN" sz="1200" dirty="0" err="1"/>
              <a:t>coupon_id</a:t>
            </a:r>
            <a:r>
              <a:rPr lang="en-IN" sz="1200" dirty="0"/>
              <a:t> IS NOT NULL THEN </a:t>
            </a:r>
            <a:r>
              <a:rPr lang="en-IN" sz="1200" dirty="0" err="1"/>
              <a:t>PurchasingAmt</a:t>
            </a:r>
            <a:r>
              <a:rPr lang="en-IN" sz="1200" dirty="0"/>
              <a:t> END) AS </a:t>
            </a:r>
            <a:r>
              <a:rPr lang="en-IN" sz="1200" dirty="0" err="1"/>
              <a:t>purchase_amt_normal_coupon</a:t>
            </a:r>
            <a:r>
              <a:rPr lang="en-IN" sz="1200" dirty="0"/>
              <a:t>,</a:t>
            </a:r>
          </a:p>
          <a:p>
            <a:r>
              <a:rPr lang="en-IN" sz="1200" dirty="0"/>
              <a:t>    SUM(CASE WHEN </a:t>
            </a:r>
            <a:r>
              <a:rPr lang="en-IN" sz="1200" dirty="0" err="1"/>
              <a:t>campaign_id</a:t>
            </a:r>
            <a:r>
              <a:rPr lang="en-IN" sz="1200" dirty="0"/>
              <a:t> IS NULL AND </a:t>
            </a:r>
            <a:r>
              <a:rPr lang="en-IN" sz="1200" dirty="0" err="1"/>
              <a:t>coupon_id</a:t>
            </a:r>
            <a:r>
              <a:rPr lang="en-IN" sz="1200" dirty="0"/>
              <a:t> IS NULL THEN </a:t>
            </a:r>
            <a:r>
              <a:rPr lang="en-IN" sz="1200" dirty="0" err="1"/>
              <a:t>PurchasingAmt</a:t>
            </a:r>
            <a:r>
              <a:rPr lang="en-IN" sz="1200" dirty="0"/>
              <a:t> END) AS </a:t>
            </a:r>
            <a:r>
              <a:rPr lang="en-IN" sz="1200" dirty="0" err="1"/>
              <a:t>purchase_amt_no_coupon</a:t>
            </a:r>
            <a:endParaRPr lang="en-IN" sz="1200" dirty="0"/>
          </a:p>
          <a:p>
            <a:r>
              <a:rPr lang="en-IN" sz="1200" dirty="0"/>
              <a:t>FROM </a:t>
            </a:r>
            <a:r>
              <a:rPr lang="en-IN" sz="1200" dirty="0" err="1"/>
              <a:t>sqlproject_customertransactiondata</a:t>
            </a:r>
            <a:r>
              <a:rPr lang="en-IN" sz="12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1586391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811834-ED94-5970-AFDF-1194B8D079DC}"/>
              </a:ext>
            </a:extLst>
          </p:cNvPr>
          <p:cNvSpPr txBox="1"/>
          <p:nvPr/>
        </p:nvSpPr>
        <p:spPr>
          <a:xfrm>
            <a:off x="90488" y="114568"/>
            <a:ext cx="4824412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11 . Year-by-year growth</a:t>
            </a:r>
          </a:p>
          <a:p>
            <a:endParaRPr lang="en-IN" sz="1000" dirty="0"/>
          </a:p>
          <a:p>
            <a:r>
              <a:rPr lang="en-IN" sz="1000" dirty="0"/>
              <a:t>Query - WITH years AS (</a:t>
            </a:r>
          </a:p>
          <a:p>
            <a:r>
              <a:rPr lang="en-IN" sz="1000" dirty="0"/>
              <a:t>  SELECT YEAR(</a:t>
            </a:r>
            <a:r>
              <a:rPr lang="en-IN" sz="1000" dirty="0" err="1"/>
              <a:t>PurchaseDate</a:t>
            </a:r>
            <a:r>
              <a:rPr lang="en-IN" sz="1000" dirty="0"/>
              <a:t>) AS yr</a:t>
            </a:r>
          </a:p>
          <a:p>
            <a:r>
              <a:rPr lang="en-IN" sz="1000" dirty="0"/>
              <a:t>  FROM </a:t>
            </a:r>
            <a:r>
              <a:rPr lang="en-IN" sz="1000" dirty="0" err="1"/>
              <a:t>sqlproject_customertransactiondata</a:t>
            </a:r>
            <a:endParaRPr lang="en-IN" sz="1000" dirty="0"/>
          </a:p>
          <a:p>
            <a:r>
              <a:rPr lang="en-IN" sz="1000" dirty="0"/>
              <a:t>  WHERE YEAR(</a:t>
            </a:r>
            <a:r>
              <a:rPr lang="en-IN" sz="1000" dirty="0" err="1"/>
              <a:t>PurchaseDate</a:t>
            </a:r>
            <a:r>
              <a:rPr lang="en-IN" sz="1000" dirty="0"/>
              <a:t>) &lt; YEAR(CURDATE())</a:t>
            </a:r>
          </a:p>
          <a:p>
            <a:r>
              <a:rPr lang="en-IN" sz="1000" dirty="0"/>
              <a:t>  GROUP BY YEAR(</a:t>
            </a:r>
            <a:r>
              <a:rPr lang="en-IN" sz="1000" dirty="0" err="1"/>
              <a:t>PurchaseDate</a:t>
            </a:r>
            <a:r>
              <a:rPr lang="en-IN" sz="1000" dirty="0"/>
              <a:t>)</a:t>
            </a:r>
          </a:p>
          <a:p>
            <a:r>
              <a:rPr lang="en-IN" sz="1000" dirty="0"/>
              <a:t>),</a:t>
            </a:r>
          </a:p>
          <a:p>
            <a:endParaRPr lang="en-IN" sz="1000" dirty="0"/>
          </a:p>
          <a:p>
            <a:r>
              <a:rPr lang="en-IN" sz="1000" dirty="0" err="1"/>
              <a:t>yearly_sales</a:t>
            </a:r>
            <a:r>
              <a:rPr lang="en-IN" sz="1000" dirty="0"/>
              <a:t> AS (</a:t>
            </a:r>
          </a:p>
          <a:p>
            <a:r>
              <a:rPr lang="en-IN" sz="1000" dirty="0"/>
              <a:t>  SELECT YEAR(</a:t>
            </a:r>
            <a:r>
              <a:rPr lang="en-IN" sz="1000" dirty="0" err="1"/>
              <a:t>PurchaseDate</a:t>
            </a:r>
            <a:r>
              <a:rPr lang="en-IN" sz="1000" dirty="0"/>
              <a:t>) AS yr,</a:t>
            </a:r>
          </a:p>
          <a:p>
            <a:r>
              <a:rPr lang="en-IN" sz="1000" dirty="0"/>
              <a:t>         SUM(quantity) AS </a:t>
            </a:r>
            <a:r>
              <a:rPr lang="en-IN" sz="1000" dirty="0" err="1"/>
              <a:t>total_qty</a:t>
            </a:r>
            <a:r>
              <a:rPr lang="en-IN" sz="1000" dirty="0"/>
              <a:t>,</a:t>
            </a:r>
          </a:p>
          <a:p>
            <a:r>
              <a:rPr lang="en-IN" sz="1000" dirty="0"/>
              <a:t>         SUM(</a:t>
            </a:r>
            <a:r>
              <a:rPr lang="en-IN" sz="1000" dirty="0" err="1"/>
              <a:t>PurchasingAmt</a:t>
            </a:r>
            <a:r>
              <a:rPr lang="en-IN" sz="1000" dirty="0"/>
              <a:t>) AS </a:t>
            </a:r>
            <a:r>
              <a:rPr lang="en-IN" sz="1000" dirty="0" err="1"/>
              <a:t>total_amount</a:t>
            </a:r>
            <a:endParaRPr lang="en-IN" sz="1000" dirty="0"/>
          </a:p>
          <a:p>
            <a:r>
              <a:rPr lang="en-IN" sz="1000" dirty="0"/>
              <a:t>  FROM </a:t>
            </a:r>
            <a:r>
              <a:rPr lang="en-IN" sz="1000" dirty="0" err="1"/>
              <a:t>sqlproject_customertransactiondata</a:t>
            </a:r>
            <a:endParaRPr lang="en-IN" sz="1000" dirty="0"/>
          </a:p>
          <a:p>
            <a:r>
              <a:rPr lang="en-IN" sz="1000" dirty="0"/>
              <a:t>  WHERE YEAR(</a:t>
            </a:r>
            <a:r>
              <a:rPr lang="en-IN" sz="1000" dirty="0" err="1"/>
              <a:t>PurchaseDate</a:t>
            </a:r>
            <a:r>
              <a:rPr lang="en-IN" sz="1000" dirty="0"/>
              <a:t>) &lt; YEAR(CURDATE())</a:t>
            </a:r>
          </a:p>
          <a:p>
            <a:r>
              <a:rPr lang="en-IN" sz="1000" dirty="0"/>
              <a:t>  GROUP BY YEAR(</a:t>
            </a:r>
            <a:r>
              <a:rPr lang="en-IN" sz="1000" dirty="0" err="1"/>
              <a:t>PurchaseDate</a:t>
            </a:r>
            <a:r>
              <a:rPr lang="en-IN" sz="1000" dirty="0"/>
              <a:t>)</a:t>
            </a:r>
          </a:p>
          <a:p>
            <a:r>
              <a:rPr lang="en-IN" sz="1000" dirty="0"/>
              <a:t>),</a:t>
            </a:r>
          </a:p>
          <a:p>
            <a:endParaRPr lang="en-IN" sz="1000" dirty="0"/>
          </a:p>
          <a:p>
            <a:r>
              <a:rPr lang="en-IN" sz="1000" dirty="0" err="1"/>
              <a:t>first_purchase_year</a:t>
            </a:r>
            <a:r>
              <a:rPr lang="en-IN" sz="1000" dirty="0"/>
              <a:t> AS (</a:t>
            </a:r>
          </a:p>
          <a:p>
            <a:r>
              <a:rPr lang="en-IN" sz="1000" dirty="0"/>
              <a:t>  SELECT </a:t>
            </a:r>
            <a:r>
              <a:rPr lang="en-IN" sz="1000" dirty="0" err="1"/>
              <a:t>Cust_Id</a:t>
            </a:r>
            <a:r>
              <a:rPr lang="en-IN" sz="1000" dirty="0"/>
              <a:t>,</a:t>
            </a:r>
          </a:p>
          <a:p>
            <a:r>
              <a:rPr lang="en-IN" sz="1000" dirty="0"/>
              <a:t>         MIN(YEAR(</a:t>
            </a:r>
            <a:r>
              <a:rPr lang="en-IN" sz="1000" dirty="0" err="1"/>
              <a:t>PurchaseDate</a:t>
            </a:r>
            <a:r>
              <a:rPr lang="en-IN" sz="1000" dirty="0"/>
              <a:t>)) AS </a:t>
            </a:r>
            <a:r>
              <a:rPr lang="en-IN" sz="1000" dirty="0" err="1"/>
              <a:t>first_year</a:t>
            </a:r>
            <a:endParaRPr lang="en-IN" sz="1000" dirty="0"/>
          </a:p>
          <a:p>
            <a:r>
              <a:rPr lang="en-IN" sz="1000" dirty="0"/>
              <a:t>  FROM </a:t>
            </a:r>
            <a:r>
              <a:rPr lang="en-IN" sz="1000" dirty="0" err="1"/>
              <a:t>sqlproject_customertransactiondata</a:t>
            </a:r>
            <a:endParaRPr lang="en-IN" sz="1000" dirty="0"/>
          </a:p>
          <a:p>
            <a:r>
              <a:rPr lang="en-IN" sz="1000" dirty="0"/>
              <a:t>  GROUP BY </a:t>
            </a:r>
            <a:r>
              <a:rPr lang="en-IN" sz="1000" dirty="0" err="1"/>
              <a:t>Cust_Id</a:t>
            </a:r>
            <a:endParaRPr lang="en-IN" sz="1000" dirty="0"/>
          </a:p>
          <a:p>
            <a:r>
              <a:rPr lang="en-IN" sz="1000" dirty="0"/>
              <a:t>),</a:t>
            </a:r>
          </a:p>
          <a:p>
            <a:endParaRPr lang="en-IN" sz="1000" dirty="0"/>
          </a:p>
          <a:p>
            <a:r>
              <a:rPr lang="en-IN" sz="1000" dirty="0" err="1"/>
              <a:t>new_customers</a:t>
            </a:r>
            <a:r>
              <a:rPr lang="en-IN" sz="1000" dirty="0"/>
              <a:t> AS (</a:t>
            </a:r>
          </a:p>
          <a:p>
            <a:r>
              <a:rPr lang="en-IN" sz="1000" dirty="0"/>
              <a:t>  SELECT </a:t>
            </a:r>
            <a:r>
              <a:rPr lang="en-IN" sz="1000" dirty="0" err="1"/>
              <a:t>first_year</a:t>
            </a:r>
            <a:r>
              <a:rPr lang="en-IN" sz="1000" dirty="0"/>
              <a:t> AS yr,</a:t>
            </a:r>
          </a:p>
          <a:p>
            <a:r>
              <a:rPr lang="en-IN" sz="1000" dirty="0"/>
              <a:t>         COUNT(*) AS </a:t>
            </a:r>
            <a:r>
              <a:rPr lang="en-IN" sz="1000" dirty="0" err="1"/>
              <a:t>new_customers</a:t>
            </a:r>
            <a:endParaRPr lang="en-IN" sz="1000" dirty="0"/>
          </a:p>
          <a:p>
            <a:r>
              <a:rPr lang="en-IN" sz="1000" dirty="0"/>
              <a:t>  FROM </a:t>
            </a:r>
            <a:r>
              <a:rPr lang="en-IN" sz="1000" dirty="0" err="1"/>
              <a:t>first_purchase_year</a:t>
            </a:r>
            <a:endParaRPr lang="en-IN" sz="1000" dirty="0"/>
          </a:p>
          <a:p>
            <a:r>
              <a:rPr lang="en-IN" sz="1000" dirty="0"/>
              <a:t>  WHERE </a:t>
            </a:r>
            <a:r>
              <a:rPr lang="en-IN" sz="1000" dirty="0" err="1"/>
              <a:t>first_year</a:t>
            </a:r>
            <a:r>
              <a:rPr lang="en-IN" sz="1000" dirty="0"/>
              <a:t> &lt; YEAR(CURDATE())</a:t>
            </a:r>
          </a:p>
          <a:p>
            <a:r>
              <a:rPr lang="en-IN" sz="1000" dirty="0"/>
              <a:t>  GROUP BY </a:t>
            </a:r>
            <a:r>
              <a:rPr lang="en-IN" sz="1000" dirty="0" err="1"/>
              <a:t>first_year</a:t>
            </a:r>
            <a:endParaRPr lang="en-IN" sz="1000" dirty="0"/>
          </a:p>
          <a:p>
            <a:r>
              <a:rPr lang="en-IN" sz="1000" dirty="0"/>
              <a:t>)</a:t>
            </a:r>
          </a:p>
          <a:p>
            <a:endParaRPr lang="en-IN" sz="1000" dirty="0"/>
          </a:p>
          <a:p>
            <a:r>
              <a:rPr lang="en-IN" sz="1000" dirty="0"/>
              <a:t>SELECT</a:t>
            </a:r>
          </a:p>
          <a:p>
            <a:r>
              <a:rPr lang="en-IN" sz="1000" dirty="0"/>
              <a:t>  </a:t>
            </a:r>
            <a:r>
              <a:rPr lang="en-IN" sz="1000" dirty="0" err="1"/>
              <a:t>y.yr</a:t>
            </a:r>
            <a:r>
              <a:rPr lang="en-IN" sz="1000" dirty="0"/>
              <a:t> AS Year,</a:t>
            </a:r>
          </a:p>
          <a:p>
            <a:r>
              <a:rPr lang="en-IN" sz="1000" dirty="0"/>
              <a:t>  COALESCE(ys.total_qty,0)     AS </a:t>
            </a:r>
            <a:r>
              <a:rPr lang="en-IN" sz="1000" dirty="0" err="1"/>
              <a:t>total_quantity_sold</a:t>
            </a:r>
            <a:r>
              <a:rPr lang="en-IN" sz="1000" dirty="0"/>
              <a:t>,</a:t>
            </a:r>
          </a:p>
          <a:p>
            <a:r>
              <a:rPr lang="en-IN" sz="1000" dirty="0"/>
              <a:t>  COALESCE(ys.total_amount,0)  AS </a:t>
            </a:r>
            <a:r>
              <a:rPr lang="en-IN" sz="1000" dirty="0" err="1"/>
              <a:t>total_sales_amount</a:t>
            </a:r>
            <a:r>
              <a:rPr lang="en-IN" sz="1000" dirty="0"/>
              <a:t>,</a:t>
            </a:r>
          </a:p>
          <a:p>
            <a:r>
              <a:rPr lang="en-IN" sz="1000" dirty="0"/>
              <a:t>  COALESCE(nc.new_customers,0) AS </a:t>
            </a:r>
            <a:r>
              <a:rPr lang="en-IN" sz="1000" dirty="0" err="1"/>
              <a:t>new_customers_acquired</a:t>
            </a:r>
            <a:endParaRPr lang="en-IN" sz="1000" dirty="0"/>
          </a:p>
          <a:p>
            <a:r>
              <a:rPr lang="en-IN" sz="1000" dirty="0"/>
              <a:t>FROM years y</a:t>
            </a:r>
          </a:p>
          <a:p>
            <a:r>
              <a:rPr lang="en-IN" sz="1000" dirty="0"/>
              <a:t>LEFT JOIN </a:t>
            </a:r>
            <a:r>
              <a:rPr lang="en-IN" sz="1000" dirty="0" err="1"/>
              <a:t>yearly_sales</a:t>
            </a:r>
            <a:r>
              <a:rPr lang="en-IN" sz="1000" dirty="0"/>
              <a:t> </a:t>
            </a:r>
            <a:r>
              <a:rPr lang="en-IN" sz="1000" dirty="0" err="1"/>
              <a:t>ys</a:t>
            </a:r>
            <a:r>
              <a:rPr lang="en-IN" sz="1000" dirty="0"/>
              <a:t> ON </a:t>
            </a:r>
            <a:r>
              <a:rPr lang="en-IN" sz="1000" dirty="0" err="1"/>
              <a:t>y.yr</a:t>
            </a:r>
            <a:r>
              <a:rPr lang="en-IN" sz="1000" dirty="0"/>
              <a:t> = </a:t>
            </a:r>
            <a:r>
              <a:rPr lang="en-IN" sz="1000" dirty="0" err="1"/>
              <a:t>ys.yr</a:t>
            </a:r>
            <a:endParaRPr lang="en-IN" sz="1000" dirty="0"/>
          </a:p>
          <a:p>
            <a:r>
              <a:rPr lang="en-IN" sz="1000" dirty="0"/>
              <a:t>LEFT JOIN </a:t>
            </a:r>
            <a:r>
              <a:rPr lang="en-IN" sz="1000" dirty="0" err="1"/>
              <a:t>new_customers</a:t>
            </a:r>
            <a:r>
              <a:rPr lang="en-IN" sz="1000" dirty="0"/>
              <a:t> </a:t>
            </a:r>
            <a:r>
              <a:rPr lang="en-IN" sz="1000" dirty="0" err="1"/>
              <a:t>nc</a:t>
            </a:r>
            <a:r>
              <a:rPr lang="en-IN" sz="1000" dirty="0"/>
              <a:t> ON </a:t>
            </a:r>
            <a:r>
              <a:rPr lang="en-IN" sz="1000" dirty="0" err="1"/>
              <a:t>y.yr</a:t>
            </a:r>
            <a:r>
              <a:rPr lang="en-IN" sz="1000" dirty="0"/>
              <a:t> = </a:t>
            </a:r>
            <a:r>
              <a:rPr lang="en-IN" sz="1000" dirty="0" err="1"/>
              <a:t>nc.yr</a:t>
            </a:r>
            <a:endParaRPr lang="en-IN" sz="1000" dirty="0"/>
          </a:p>
          <a:p>
            <a:r>
              <a:rPr lang="en-IN" sz="1000" dirty="0"/>
              <a:t>ORDER BY </a:t>
            </a:r>
            <a:r>
              <a:rPr lang="en-IN" sz="1000" dirty="0" err="1"/>
              <a:t>y.yr</a:t>
            </a:r>
            <a:r>
              <a:rPr lang="en-IN" sz="1000" dirty="0"/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DFDDB1-F5AB-044F-0C45-0AB32FD10737}"/>
              </a:ext>
            </a:extLst>
          </p:cNvPr>
          <p:cNvSpPr txBox="1"/>
          <p:nvPr/>
        </p:nvSpPr>
        <p:spPr>
          <a:xfrm>
            <a:off x="5829300" y="28843"/>
            <a:ext cx="6272212" cy="3985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12 . New customers </a:t>
            </a:r>
            <a:r>
              <a:rPr lang="en-IN" sz="1100" b="1" dirty="0"/>
              <a:t>segregated by </a:t>
            </a:r>
            <a:r>
              <a:rPr lang="en-IN" sz="1100" b="1" dirty="0" err="1"/>
              <a:t>OrderType</a:t>
            </a:r>
            <a:r>
              <a:rPr lang="en-IN" sz="1100" dirty="0"/>
              <a:t> (each year × order type on its own row)</a:t>
            </a:r>
          </a:p>
          <a:p>
            <a:endParaRPr lang="en-IN" sz="1100" dirty="0"/>
          </a:p>
          <a:p>
            <a:r>
              <a:rPr lang="en-IN" sz="1100" dirty="0"/>
              <a:t>Query  - WITH </a:t>
            </a:r>
            <a:r>
              <a:rPr lang="en-IN" sz="1100" dirty="0" err="1"/>
              <a:t>first_txn</a:t>
            </a:r>
            <a:r>
              <a:rPr lang="en-IN" sz="1100" dirty="0"/>
              <a:t> AS (</a:t>
            </a:r>
          </a:p>
          <a:p>
            <a:r>
              <a:rPr lang="en-IN" sz="1100" dirty="0"/>
              <a:t>  SELECT</a:t>
            </a:r>
          </a:p>
          <a:p>
            <a:r>
              <a:rPr lang="en-IN" sz="1100" dirty="0"/>
              <a:t>    </a:t>
            </a:r>
            <a:r>
              <a:rPr lang="en-IN" sz="1100" dirty="0" err="1"/>
              <a:t>ctd.Cust_Id</a:t>
            </a:r>
            <a:r>
              <a:rPr lang="en-IN" sz="1100" dirty="0"/>
              <a:t>,</a:t>
            </a:r>
          </a:p>
          <a:p>
            <a:r>
              <a:rPr lang="en-IN" sz="1100" dirty="0"/>
              <a:t>    </a:t>
            </a:r>
            <a:r>
              <a:rPr lang="en-IN" sz="1100" dirty="0" err="1"/>
              <a:t>ctd.OrderType</a:t>
            </a:r>
            <a:r>
              <a:rPr lang="en-IN" sz="1100" dirty="0"/>
              <a:t>,</a:t>
            </a:r>
          </a:p>
          <a:p>
            <a:r>
              <a:rPr lang="en-IN" sz="1100" dirty="0"/>
              <a:t>    ROW_NUMBER() OVER (PARTITION BY </a:t>
            </a:r>
            <a:r>
              <a:rPr lang="en-IN" sz="1100" dirty="0" err="1"/>
              <a:t>ctd.Cust_Id</a:t>
            </a:r>
            <a:r>
              <a:rPr lang="en-IN" sz="1100" dirty="0"/>
              <a:t> ORDER BY </a:t>
            </a:r>
            <a:r>
              <a:rPr lang="en-IN" sz="1100" dirty="0" err="1"/>
              <a:t>ctd.PurchaseDate</a:t>
            </a:r>
            <a:r>
              <a:rPr lang="en-IN" sz="1100" dirty="0"/>
              <a:t>, </a:t>
            </a:r>
            <a:r>
              <a:rPr lang="en-IN" sz="1100" dirty="0" err="1"/>
              <a:t>ctd.Trans_Id</a:t>
            </a:r>
            <a:r>
              <a:rPr lang="en-IN" sz="1100" dirty="0"/>
              <a:t>) AS </a:t>
            </a:r>
            <a:r>
              <a:rPr lang="en-IN" sz="1100" dirty="0" err="1"/>
              <a:t>rn</a:t>
            </a:r>
            <a:r>
              <a:rPr lang="en-IN" sz="1100" dirty="0"/>
              <a:t>,</a:t>
            </a:r>
          </a:p>
          <a:p>
            <a:r>
              <a:rPr lang="en-IN" sz="1100" dirty="0"/>
              <a:t>    YEAR(</a:t>
            </a:r>
            <a:r>
              <a:rPr lang="en-IN" sz="1100" dirty="0" err="1"/>
              <a:t>ctd.PurchaseDate</a:t>
            </a:r>
            <a:r>
              <a:rPr lang="en-IN" sz="1100" dirty="0"/>
              <a:t>) AS </a:t>
            </a:r>
            <a:r>
              <a:rPr lang="en-IN" sz="1100" dirty="0" err="1"/>
              <a:t>first_year</a:t>
            </a:r>
            <a:endParaRPr lang="en-IN" sz="1100" dirty="0"/>
          </a:p>
          <a:p>
            <a:r>
              <a:rPr lang="en-IN" sz="1100" dirty="0"/>
              <a:t>  FROM </a:t>
            </a:r>
            <a:r>
              <a:rPr lang="en-IN" sz="1100" dirty="0" err="1"/>
              <a:t>sqlproject_customertransactiondata</a:t>
            </a:r>
            <a:r>
              <a:rPr lang="en-IN" sz="1100" dirty="0"/>
              <a:t> </a:t>
            </a:r>
            <a:r>
              <a:rPr lang="en-IN" sz="1100" dirty="0" err="1"/>
              <a:t>ctd</a:t>
            </a:r>
            <a:endParaRPr lang="en-IN" sz="1100" dirty="0"/>
          </a:p>
          <a:p>
            <a:r>
              <a:rPr lang="en-IN" sz="1100" dirty="0"/>
              <a:t>),</a:t>
            </a:r>
          </a:p>
          <a:p>
            <a:r>
              <a:rPr lang="en-IN" sz="1100" dirty="0" err="1"/>
              <a:t>first_txn_filtered</a:t>
            </a:r>
            <a:r>
              <a:rPr lang="en-IN" sz="1100" dirty="0"/>
              <a:t> AS (</a:t>
            </a:r>
          </a:p>
          <a:p>
            <a:r>
              <a:rPr lang="en-IN" sz="1100" dirty="0"/>
              <a:t>  SELECT </a:t>
            </a:r>
            <a:r>
              <a:rPr lang="en-IN" sz="1100" dirty="0" err="1"/>
              <a:t>Cust_Id</a:t>
            </a:r>
            <a:r>
              <a:rPr lang="en-IN" sz="1100" dirty="0"/>
              <a:t>, </a:t>
            </a:r>
            <a:r>
              <a:rPr lang="en-IN" sz="1100" dirty="0" err="1"/>
              <a:t>OrderType</a:t>
            </a:r>
            <a:r>
              <a:rPr lang="en-IN" sz="1100" dirty="0"/>
              <a:t>, </a:t>
            </a:r>
            <a:r>
              <a:rPr lang="en-IN" sz="1100" dirty="0" err="1"/>
              <a:t>first_year</a:t>
            </a:r>
            <a:endParaRPr lang="en-IN" sz="1100" dirty="0"/>
          </a:p>
          <a:p>
            <a:r>
              <a:rPr lang="en-IN" sz="1100" dirty="0"/>
              <a:t>  FROM </a:t>
            </a:r>
            <a:r>
              <a:rPr lang="en-IN" sz="1100" dirty="0" err="1"/>
              <a:t>first_txn</a:t>
            </a:r>
            <a:endParaRPr lang="en-IN" sz="1100" dirty="0"/>
          </a:p>
          <a:p>
            <a:r>
              <a:rPr lang="en-IN" sz="1100" dirty="0"/>
              <a:t>  WHERE </a:t>
            </a:r>
            <a:r>
              <a:rPr lang="en-IN" sz="1100" dirty="0" err="1"/>
              <a:t>rn</a:t>
            </a:r>
            <a:r>
              <a:rPr lang="en-IN" sz="1100" dirty="0"/>
              <a:t> = 1 AND </a:t>
            </a:r>
            <a:r>
              <a:rPr lang="en-IN" sz="1100" dirty="0" err="1"/>
              <a:t>first_year</a:t>
            </a:r>
            <a:r>
              <a:rPr lang="en-IN" sz="1100" dirty="0"/>
              <a:t> &lt; YEAR(CURDATE())</a:t>
            </a:r>
          </a:p>
          <a:p>
            <a:r>
              <a:rPr lang="en-IN" sz="1100" dirty="0"/>
              <a:t>)</a:t>
            </a:r>
          </a:p>
          <a:p>
            <a:r>
              <a:rPr lang="en-IN" sz="1100" dirty="0"/>
              <a:t>SELECT</a:t>
            </a:r>
          </a:p>
          <a:p>
            <a:r>
              <a:rPr lang="en-IN" sz="1100" dirty="0"/>
              <a:t>  </a:t>
            </a:r>
            <a:r>
              <a:rPr lang="en-IN" sz="1100" dirty="0" err="1"/>
              <a:t>first_year</a:t>
            </a:r>
            <a:r>
              <a:rPr lang="en-IN" sz="1100" dirty="0"/>
              <a:t> AS Year,</a:t>
            </a:r>
          </a:p>
          <a:p>
            <a:r>
              <a:rPr lang="en-IN" sz="1100" dirty="0"/>
              <a:t>  </a:t>
            </a:r>
            <a:r>
              <a:rPr lang="en-IN" sz="1100" dirty="0" err="1"/>
              <a:t>OrderType</a:t>
            </a:r>
            <a:r>
              <a:rPr lang="en-IN" sz="1100" dirty="0"/>
              <a:t>,</a:t>
            </a:r>
          </a:p>
          <a:p>
            <a:r>
              <a:rPr lang="en-IN" sz="1100" dirty="0"/>
              <a:t>  COUNT(*) AS </a:t>
            </a:r>
            <a:r>
              <a:rPr lang="en-IN" sz="1100" dirty="0" err="1"/>
              <a:t>new_customers_count</a:t>
            </a:r>
            <a:endParaRPr lang="en-IN" sz="1100" dirty="0"/>
          </a:p>
          <a:p>
            <a:r>
              <a:rPr lang="en-IN" sz="1100" dirty="0"/>
              <a:t>FROM </a:t>
            </a:r>
            <a:r>
              <a:rPr lang="en-IN" sz="1100" dirty="0" err="1"/>
              <a:t>first_txn_filtered</a:t>
            </a:r>
            <a:endParaRPr lang="en-IN" sz="1100" dirty="0"/>
          </a:p>
          <a:p>
            <a:r>
              <a:rPr lang="en-IN" sz="1100" dirty="0"/>
              <a:t>GROUP BY </a:t>
            </a:r>
            <a:r>
              <a:rPr lang="en-IN" sz="1100" dirty="0" err="1"/>
              <a:t>first_year</a:t>
            </a:r>
            <a:r>
              <a:rPr lang="en-IN" sz="1100" dirty="0"/>
              <a:t>, </a:t>
            </a:r>
            <a:r>
              <a:rPr lang="en-IN" sz="1100" dirty="0" err="1"/>
              <a:t>OrderType</a:t>
            </a:r>
            <a:endParaRPr lang="en-IN" sz="1100" dirty="0"/>
          </a:p>
          <a:p>
            <a:r>
              <a:rPr lang="en-IN" sz="1100" dirty="0"/>
              <a:t>ORDER BY </a:t>
            </a:r>
            <a:r>
              <a:rPr lang="en-IN" sz="1100" dirty="0" err="1"/>
              <a:t>first_year</a:t>
            </a:r>
            <a:r>
              <a:rPr lang="en-IN" sz="1100" dirty="0"/>
              <a:t>, </a:t>
            </a:r>
            <a:r>
              <a:rPr lang="en-IN" sz="1100" dirty="0" err="1"/>
              <a:t>OrderType</a:t>
            </a:r>
            <a:r>
              <a:rPr lang="en-IN" sz="1100" dirty="0"/>
              <a:t>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1C7DD59-BB66-6B54-5540-1B3E7B5F5C4F}"/>
              </a:ext>
            </a:extLst>
          </p:cNvPr>
          <p:cNvSpPr txBox="1"/>
          <p:nvPr/>
        </p:nvSpPr>
        <p:spPr>
          <a:xfrm>
            <a:off x="5829300" y="4100274"/>
            <a:ext cx="627221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13. Year-by-year decline check</a:t>
            </a:r>
          </a:p>
          <a:p>
            <a:endParaRPr lang="en-IN" sz="1000" dirty="0"/>
          </a:p>
          <a:p>
            <a:r>
              <a:rPr lang="en-IN" sz="1000" dirty="0"/>
              <a:t>Query - WITH </a:t>
            </a:r>
            <a:r>
              <a:rPr lang="en-IN" sz="1000" dirty="0" err="1"/>
              <a:t>yearly_totals</a:t>
            </a:r>
            <a:r>
              <a:rPr lang="en-IN" sz="1000" dirty="0"/>
              <a:t> AS (</a:t>
            </a:r>
          </a:p>
          <a:p>
            <a:r>
              <a:rPr lang="en-IN" sz="1000" dirty="0"/>
              <a:t>  SELECT YEAR(</a:t>
            </a:r>
            <a:r>
              <a:rPr lang="en-IN" sz="1000" dirty="0" err="1"/>
              <a:t>PurchaseDate</a:t>
            </a:r>
            <a:r>
              <a:rPr lang="en-IN" sz="1000" dirty="0"/>
              <a:t>) AS yr,</a:t>
            </a:r>
          </a:p>
          <a:p>
            <a:r>
              <a:rPr lang="en-IN" sz="1000" dirty="0"/>
              <a:t>         SUM(</a:t>
            </a:r>
            <a:r>
              <a:rPr lang="en-IN" sz="1000" dirty="0" err="1"/>
              <a:t>PurchasingAmt</a:t>
            </a:r>
            <a:r>
              <a:rPr lang="en-IN" sz="1000" dirty="0"/>
              <a:t>) AS </a:t>
            </a:r>
            <a:r>
              <a:rPr lang="en-IN" sz="1000" dirty="0" err="1"/>
              <a:t>total_amount</a:t>
            </a:r>
            <a:endParaRPr lang="en-IN" sz="1000" dirty="0"/>
          </a:p>
          <a:p>
            <a:r>
              <a:rPr lang="en-IN" sz="1000" dirty="0"/>
              <a:t>  FROM </a:t>
            </a:r>
            <a:r>
              <a:rPr lang="en-IN" sz="1000" dirty="0" err="1"/>
              <a:t>sqlproject_customertransactiondata</a:t>
            </a:r>
            <a:endParaRPr lang="en-IN" sz="1000" dirty="0"/>
          </a:p>
          <a:p>
            <a:r>
              <a:rPr lang="en-IN" sz="1000" dirty="0"/>
              <a:t>  WHERE YEAR(</a:t>
            </a:r>
            <a:r>
              <a:rPr lang="en-IN" sz="1000" dirty="0" err="1"/>
              <a:t>PurchaseDate</a:t>
            </a:r>
            <a:r>
              <a:rPr lang="en-IN" sz="1000" dirty="0"/>
              <a:t>) &lt; YEAR(CURDATE())</a:t>
            </a:r>
          </a:p>
          <a:p>
            <a:r>
              <a:rPr lang="en-IN" sz="1000" dirty="0"/>
              <a:t>  GROUP BY YEAR(</a:t>
            </a:r>
            <a:r>
              <a:rPr lang="en-IN" sz="1000" dirty="0" err="1"/>
              <a:t>PurchaseDate</a:t>
            </a:r>
            <a:r>
              <a:rPr lang="en-IN" sz="1000" dirty="0"/>
              <a:t>)</a:t>
            </a:r>
          </a:p>
          <a:p>
            <a:r>
              <a:rPr lang="en-IN" sz="1000" dirty="0"/>
              <a:t>)</a:t>
            </a:r>
          </a:p>
          <a:p>
            <a:r>
              <a:rPr lang="en-IN" sz="1000" dirty="0"/>
              <a:t>SELECT</a:t>
            </a:r>
          </a:p>
          <a:p>
            <a:r>
              <a:rPr lang="en-IN" sz="1000" dirty="0"/>
              <a:t>  yr AS Year,</a:t>
            </a:r>
          </a:p>
          <a:p>
            <a:r>
              <a:rPr lang="en-IN" sz="1000" dirty="0"/>
              <a:t>  </a:t>
            </a:r>
            <a:r>
              <a:rPr lang="en-IN" sz="1000" dirty="0" err="1"/>
              <a:t>total_amount</a:t>
            </a:r>
            <a:r>
              <a:rPr lang="en-IN" sz="1000" dirty="0"/>
              <a:t>,</a:t>
            </a:r>
          </a:p>
          <a:p>
            <a:r>
              <a:rPr lang="en-IN" sz="1000" dirty="0"/>
              <a:t>  </a:t>
            </a:r>
            <a:r>
              <a:rPr lang="en-IN" sz="1000" dirty="0" err="1"/>
              <a:t>total_amount</a:t>
            </a:r>
            <a:r>
              <a:rPr lang="en-IN" sz="1000" dirty="0"/>
              <a:t> - LAG(</a:t>
            </a:r>
            <a:r>
              <a:rPr lang="en-IN" sz="1000" dirty="0" err="1"/>
              <a:t>total_amount</a:t>
            </a:r>
            <a:r>
              <a:rPr lang="en-IN" sz="1000" dirty="0"/>
              <a:t>) OVER (ORDER BY yr) AS </a:t>
            </a:r>
            <a:r>
              <a:rPr lang="en-IN" sz="1000" dirty="0" err="1"/>
              <a:t>yoy_change</a:t>
            </a:r>
            <a:r>
              <a:rPr lang="en-IN" sz="1000" dirty="0"/>
              <a:t>,</a:t>
            </a:r>
          </a:p>
          <a:p>
            <a:r>
              <a:rPr lang="en-IN" sz="1000" dirty="0"/>
              <a:t>  CASE WHEN </a:t>
            </a:r>
            <a:r>
              <a:rPr lang="en-IN" sz="1000" dirty="0" err="1"/>
              <a:t>total_amount</a:t>
            </a:r>
            <a:r>
              <a:rPr lang="en-IN" sz="1000" dirty="0"/>
              <a:t> - LAG(</a:t>
            </a:r>
            <a:r>
              <a:rPr lang="en-IN" sz="1000" dirty="0" err="1"/>
              <a:t>total_amount</a:t>
            </a:r>
            <a:r>
              <a:rPr lang="en-IN" sz="1000" dirty="0"/>
              <a:t>) OVER (ORDER BY yr) &lt; 0 THEN 'decline' ELSE 'increase' END AS trend</a:t>
            </a:r>
          </a:p>
          <a:p>
            <a:r>
              <a:rPr lang="en-IN" sz="1000" dirty="0"/>
              <a:t>FROM </a:t>
            </a:r>
            <a:r>
              <a:rPr lang="en-IN" sz="1000" dirty="0" err="1"/>
              <a:t>yearly_totals</a:t>
            </a:r>
            <a:endParaRPr lang="en-IN" sz="1000" dirty="0"/>
          </a:p>
          <a:p>
            <a:r>
              <a:rPr lang="en-IN" sz="1000" dirty="0"/>
              <a:t>ORDER BY yr;</a:t>
            </a:r>
          </a:p>
          <a:p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2929410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0D99C1F-4A1E-5E64-7659-E9385BC00B3F}"/>
              </a:ext>
            </a:extLst>
          </p:cNvPr>
          <p:cNvSpPr txBox="1"/>
          <p:nvPr/>
        </p:nvSpPr>
        <p:spPr>
          <a:xfrm>
            <a:off x="138113" y="110609"/>
            <a:ext cx="610552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14 . Which campaign type is most effective</a:t>
            </a:r>
          </a:p>
          <a:p>
            <a:endParaRPr lang="en-IN" dirty="0"/>
          </a:p>
          <a:p>
            <a:r>
              <a:rPr lang="en-IN" dirty="0"/>
              <a:t>Query - SELECT</a:t>
            </a:r>
          </a:p>
          <a:p>
            <a:r>
              <a:rPr lang="en-IN" dirty="0"/>
              <a:t>  </a:t>
            </a:r>
            <a:r>
              <a:rPr lang="en-IN" dirty="0" err="1"/>
              <a:t>cp.CampaignType</a:t>
            </a:r>
            <a:r>
              <a:rPr lang="en-IN" dirty="0"/>
              <a:t>,</a:t>
            </a:r>
          </a:p>
          <a:p>
            <a:r>
              <a:rPr lang="en-IN" dirty="0"/>
              <a:t>  COUNT(DISTINCT </a:t>
            </a:r>
            <a:r>
              <a:rPr lang="en-IN" dirty="0" err="1"/>
              <a:t>ctd.Cust_Id</a:t>
            </a:r>
            <a:r>
              <a:rPr lang="en-IN" dirty="0"/>
              <a:t>) AS </a:t>
            </a:r>
            <a:r>
              <a:rPr lang="en-IN" dirty="0" err="1"/>
              <a:t>unique_customers_reached</a:t>
            </a:r>
            <a:r>
              <a:rPr lang="en-IN" dirty="0"/>
              <a:t>,</a:t>
            </a:r>
          </a:p>
          <a:p>
            <a:r>
              <a:rPr lang="en-IN" dirty="0"/>
              <a:t>  SUM(</a:t>
            </a:r>
            <a:r>
              <a:rPr lang="en-IN" dirty="0" err="1"/>
              <a:t>ctd.PurchasingAmt</a:t>
            </a:r>
            <a:r>
              <a:rPr lang="en-IN" dirty="0"/>
              <a:t>) AS </a:t>
            </a:r>
            <a:r>
              <a:rPr lang="en-IN" dirty="0" err="1"/>
              <a:t>total_revenue_from_campaign</a:t>
            </a:r>
            <a:endParaRPr lang="en-IN" dirty="0"/>
          </a:p>
          <a:p>
            <a:r>
              <a:rPr lang="en-IN" dirty="0"/>
              <a:t>FROM </a:t>
            </a:r>
            <a:r>
              <a:rPr lang="en-IN" dirty="0" err="1"/>
              <a:t>sqlproject_customertransactiondata</a:t>
            </a:r>
            <a:r>
              <a:rPr lang="en-IN" dirty="0"/>
              <a:t> </a:t>
            </a:r>
            <a:r>
              <a:rPr lang="en-IN" dirty="0" err="1"/>
              <a:t>ctd</a:t>
            </a:r>
            <a:endParaRPr lang="en-IN" dirty="0"/>
          </a:p>
          <a:p>
            <a:r>
              <a:rPr lang="en-IN" dirty="0"/>
              <a:t>JOIN </a:t>
            </a:r>
            <a:r>
              <a:rPr lang="en-IN" dirty="0" err="1"/>
              <a:t>sqlproject_campaign</a:t>
            </a:r>
            <a:r>
              <a:rPr lang="en-IN" dirty="0"/>
              <a:t> cp ON </a:t>
            </a:r>
            <a:r>
              <a:rPr lang="en-IN" dirty="0" err="1"/>
              <a:t>ctd.campaign_id</a:t>
            </a:r>
            <a:r>
              <a:rPr lang="en-IN" dirty="0"/>
              <a:t> = </a:t>
            </a:r>
            <a:r>
              <a:rPr lang="en-IN" dirty="0" err="1"/>
              <a:t>cp.campaign_id</a:t>
            </a:r>
            <a:endParaRPr lang="en-IN" dirty="0"/>
          </a:p>
          <a:p>
            <a:r>
              <a:rPr lang="en-IN" dirty="0"/>
              <a:t>WHERE </a:t>
            </a:r>
            <a:r>
              <a:rPr lang="en-IN" dirty="0" err="1"/>
              <a:t>ctd.campaign_id</a:t>
            </a:r>
            <a:r>
              <a:rPr lang="en-IN" dirty="0"/>
              <a:t> IS NOT NULL</a:t>
            </a:r>
          </a:p>
          <a:p>
            <a:r>
              <a:rPr lang="en-IN" dirty="0"/>
              <a:t>GROUP BY </a:t>
            </a:r>
            <a:r>
              <a:rPr lang="en-IN" dirty="0" err="1"/>
              <a:t>cp.CampaignType</a:t>
            </a:r>
            <a:endParaRPr lang="en-IN" dirty="0"/>
          </a:p>
          <a:p>
            <a:r>
              <a:rPr lang="en-IN" dirty="0"/>
              <a:t>ORDER BY </a:t>
            </a:r>
            <a:r>
              <a:rPr lang="en-IN" dirty="0" err="1"/>
              <a:t>unique_customers_reached</a:t>
            </a:r>
            <a:r>
              <a:rPr lang="en-IN" dirty="0"/>
              <a:t> DESC, </a:t>
            </a:r>
            <a:r>
              <a:rPr lang="en-IN" dirty="0" err="1"/>
              <a:t>total_revenue_from_campaign</a:t>
            </a:r>
            <a:r>
              <a:rPr lang="en-IN" dirty="0"/>
              <a:t> DESC;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463CB5-2CE4-7A4A-F1A6-2E3445CEE51A}"/>
              </a:ext>
            </a:extLst>
          </p:cNvPr>
          <p:cNvSpPr txBox="1"/>
          <p:nvPr/>
        </p:nvSpPr>
        <p:spPr>
          <a:xfrm>
            <a:off x="6945086" y="110609"/>
            <a:ext cx="492345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15. Identify dates where the SAME customer purchased DIFFERENT products on the SAME day</a:t>
            </a:r>
          </a:p>
          <a:p>
            <a:endParaRPr lang="en-IN" sz="1000" dirty="0"/>
          </a:p>
          <a:p>
            <a:r>
              <a:rPr lang="en-IN" sz="1000" dirty="0"/>
              <a:t>SELECT </a:t>
            </a:r>
          </a:p>
          <a:p>
            <a:r>
              <a:rPr lang="en-IN" sz="1000" dirty="0"/>
              <a:t>    </a:t>
            </a:r>
            <a:r>
              <a:rPr lang="en-IN" sz="1000" dirty="0" err="1"/>
              <a:t>a.Cust_Id</a:t>
            </a:r>
            <a:r>
              <a:rPr lang="en-IN" sz="1000" dirty="0"/>
              <a:t>,</a:t>
            </a:r>
          </a:p>
          <a:p>
            <a:r>
              <a:rPr lang="en-IN" sz="1000" dirty="0"/>
              <a:t>    </a:t>
            </a:r>
            <a:r>
              <a:rPr lang="en-IN" sz="1000" dirty="0" err="1"/>
              <a:t>a.PurchaseDate</a:t>
            </a:r>
            <a:r>
              <a:rPr lang="en-IN" sz="1000" dirty="0"/>
              <a:t>,</a:t>
            </a:r>
          </a:p>
          <a:p>
            <a:r>
              <a:rPr lang="en-IN" sz="1000" dirty="0"/>
              <a:t>    </a:t>
            </a:r>
            <a:r>
              <a:rPr lang="en-IN" sz="1000" dirty="0" err="1"/>
              <a:t>a.OrderType</a:t>
            </a:r>
            <a:r>
              <a:rPr lang="en-IN" sz="1000" dirty="0"/>
              <a:t>,</a:t>
            </a:r>
          </a:p>
          <a:p>
            <a:r>
              <a:rPr lang="en-IN" sz="1000" dirty="0"/>
              <a:t>    </a:t>
            </a:r>
            <a:r>
              <a:rPr lang="en-IN" sz="1000" dirty="0" err="1"/>
              <a:t>a.item_id</a:t>
            </a:r>
            <a:r>
              <a:rPr lang="en-IN" sz="1000" dirty="0"/>
              <a:t> AS item_1,</a:t>
            </a:r>
          </a:p>
          <a:p>
            <a:r>
              <a:rPr lang="en-IN" sz="1000" dirty="0"/>
              <a:t>    </a:t>
            </a:r>
            <a:r>
              <a:rPr lang="en-IN" sz="1000" dirty="0" err="1"/>
              <a:t>b.item_id</a:t>
            </a:r>
            <a:r>
              <a:rPr lang="en-IN" sz="1000" dirty="0"/>
              <a:t> AS item_2</a:t>
            </a:r>
          </a:p>
          <a:p>
            <a:r>
              <a:rPr lang="en-IN" sz="1000" dirty="0"/>
              <a:t>FROM </a:t>
            </a:r>
            <a:r>
              <a:rPr lang="en-IN" sz="1000" dirty="0" err="1"/>
              <a:t>sqlproject_customertransactiondata</a:t>
            </a:r>
            <a:r>
              <a:rPr lang="en-IN" sz="1000" dirty="0"/>
              <a:t> a</a:t>
            </a:r>
          </a:p>
          <a:p>
            <a:r>
              <a:rPr lang="en-IN" sz="1000" dirty="0"/>
              <a:t>JOIN </a:t>
            </a:r>
            <a:r>
              <a:rPr lang="en-IN" sz="1000" dirty="0" err="1"/>
              <a:t>sqlproject_customertransactiondata</a:t>
            </a:r>
            <a:r>
              <a:rPr lang="en-IN" sz="1000" dirty="0"/>
              <a:t> b</a:t>
            </a:r>
          </a:p>
          <a:p>
            <a:r>
              <a:rPr lang="en-IN" sz="1000" dirty="0"/>
              <a:t>    ON </a:t>
            </a:r>
            <a:r>
              <a:rPr lang="en-IN" sz="1000" dirty="0" err="1"/>
              <a:t>a.Cust_Id</a:t>
            </a:r>
            <a:r>
              <a:rPr lang="en-IN" sz="1000" dirty="0"/>
              <a:t> = </a:t>
            </a:r>
            <a:r>
              <a:rPr lang="en-IN" sz="1000" dirty="0" err="1"/>
              <a:t>b.Cust_Id</a:t>
            </a:r>
            <a:endParaRPr lang="en-IN" sz="1000" dirty="0"/>
          </a:p>
          <a:p>
            <a:r>
              <a:rPr lang="en-IN" sz="1000" dirty="0"/>
              <a:t>    AND </a:t>
            </a:r>
            <a:r>
              <a:rPr lang="en-IN" sz="1000" dirty="0" err="1"/>
              <a:t>a.PurchaseDate</a:t>
            </a:r>
            <a:r>
              <a:rPr lang="en-IN" sz="1000" dirty="0"/>
              <a:t> = </a:t>
            </a:r>
            <a:r>
              <a:rPr lang="en-IN" sz="1000" dirty="0" err="1"/>
              <a:t>b.PurchaseDate</a:t>
            </a:r>
            <a:endParaRPr lang="en-IN" sz="1000" dirty="0"/>
          </a:p>
          <a:p>
            <a:r>
              <a:rPr lang="en-IN" sz="1000" dirty="0"/>
              <a:t>    AND </a:t>
            </a:r>
            <a:r>
              <a:rPr lang="en-IN" sz="1000" dirty="0" err="1"/>
              <a:t>a.OrderType</a:t>
            </a:r>
            <a:r>
              <a:rPr lang="en-IN" sz="1000" dirty="0"/>
              <a:t> = </a:t>
            </a:r>
            <a:r>
              <a:rPr lang="en-IN" sz="1000" dirty="0" err="1"/>
              <a:t>b.OrderType</a:t>
            </a:r>
            <a:endParaRPr lang="en-IN" sz="1000" dirty="0"/>
          </a:p>
          <a:p>
            <a:r>
              <a:rPr lang="en-IN" sz="1000" dirty="0"/>
              <a:t>    AND </a:t>
            </a:r>
            <a:r>
              <a:rPr lang="en-IN" sz="1000" dirty="0" err="1"/>
              <a:t>a.item_id</a:t>
            </a:r>
            <a:r>
              <a:rPr lang="en-IN" sz="1000" dirty="0"/>
              <a:t> &lt;&gt; </a:t>
            </a:r>
            <a:r>
              <a:rPr lang="en-IN" sz="1000" dirty="0" err="1"/>
              <a:t>b.item_id</a:t>
            </a:r>
            <a:r>
              <a:rPr lang="en-IN" sz="1000" dirty="0"/>
              <a:t>                 -- different products</a:t>
            </a:r>
          </a:p>
          <a:p>
            <a:r>
              <a:rPr lang="en-IN" sz="1000" dirty="0"/>
              <a:t>    AND </a:t>
            </a:r>
            <a:r>
              <a:rPr lang="en-IN" sz="1000" dirty="0" err="1"/>
              <a:t>a.Trans_Id</a:t>
            </a:r>
            <a:r>
              <a:rPr lang="en-IN" sz="1000" dirty="0"/>
              <a:t> &lt;&gt; </a:t>
            </a:r>
            <a:r>
              <a:rPr lang="en-IN" sz="1000" dirty="0" err="1"/>
              <a:t>b.Trans_Id</a:t>
            </a:r>
            <a:r>
              <a:rPr lang="en-IN" sz="1000" dirty="0"/>
              <a:t>              -- exclude same row</a:t>
            </a:r>
          </a:p>
          <a:p>
            <a:r>
              <a:rPr lang="en-IN" sz="1000" dirty="0"/>
              <a:t>ORDER BY </a:t>
            </a:r>
            <a:r>
              <a:rPr lang="en-IN" sz="1000" dirty="0" err="1"/>
              <a:t>a.Cust_Id</a:t>
            </a:r>
            <a:r>
              <a:rPr lang="en-IN" sz="1000" dirty="0"/>
              <a:t>, </a:t>
            </a:r>
            <a:r>
              <a:rPr lang="en-IN" sz="1000" dirty="0" err="1"/>
              <a:t>a.PurchaseDate</a:t>
            </a:r>
            <a:r>
              <a:rPr lang="en-IN" sz="1000" dirty="0"/>
              <a:t>;</a:t>
            </a:r>
          </a:p>
          <a:p>
            <a:endParaRPr lang="en-IN" sz="1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AB81D9-21A3-C1FB-EC81-AF8B7361DFFC}"/>
              </a:ext>
            </a:extLst>
          </p:cNvPr>
          <p:cNvSpPr txBox="1"/>
          <p:nvPr/>
        </p:nvSpPr>
        <p:spPr>
          <a:xfrm>
            <a:off x="6739035" y="2873419"/>
            <a:ext cx="61068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000" dirty="0"/>
              <a:t>16. Identify which of these 3+ appearance combinations are popular across sectors</a:t>
            </a:r>
          </a:p>
          <a:p>
            <a:endParaRPr lang="en-IN" sz="1000" dirty="0"/>
          </a:p>
          <a:p>
            <a:r>
              <a:rPr lang="en-IN" sz="1000" dirty="0"/>
              <a:t>WITH paired AS (</a:t>
            </a:r>
          </a:p>
          <a:p>
            <a:r>
              <a:rPr lang="en-IN" sz="1000" dirty="0"/>
              <a:t>    SELECT </a:t>
            </a:r>
          </a:p>
          <a:p>
            <a:r>
              <a:rPr lang="en-IN" sz="1000" dirty="0"/>
              <a:t>        LEAST(</a:t>
            </a:r>
            <a:r>
              <a:rPr lang="en-IN" sz="1000" dirty="0" err="1"/>
              <a:t>a.item_id</a:t>
            </a:r>
            <a:r>
              <a:rPr lang="en-IN" sz="1000" dirty="0"/>
              <a:t>, </a:t>
            </a:r>
            <a:r>
              <a:rPr lang="en-IN" sz="1000" dirty="0" err="1"/>
              <a:t>b.item_id</a:t>
            </a:r>
            <a:r>
              <a:rPr lang="en-IN" sz="1000" dirty="0"/>
              <a:t>) AS item_1,</a:t>
            </a:r>
          </a:p>
          <a:p>
            <a:r>
              <a:rPr lang="en-IN" sz="1000" dirty="0"/>
              <a:t>        GREATEST(</a:t>
            </a:r>
            <a:r>
              <a:rPr lang="en-IN" sz="1000" dirty="0" err="1"/>
              <a:t>a.item_id</a:t>
            </a:r>
            <a:r>
              <a:rPr lang="en-IN" sz="1000" dirty="0"/>
              <a:t>, </a:t>
            </a:r>
            <a:r>
              <a:rPr lang="en-IN" sz="1000" dirty="0" err="1"/>
              <a:t>b.item_id</a:t>
            </a:r>
            <a:r>
              <a:rPr lang="en-IN" sz="1000" dirty="0"/>
              <a:t>) AS item_2,</a:t>
            </a:r>
          </a:p>
          <a:p>
            <a:r>
              <a:rPr lang="en-IN" sz="1000" dirty="0"/>
              <a:t>        </a:t>
            </a:r>
            <a:r>
              <a:rPr lang="en-IN" sz="1000" dirty="0" err="1"/>
              <a:t>a.Cust_Id</a:t>
            </a:r>
            <a:r>
              <a:rPr lang="en-IN" sz="1000" dirty="0"/>
              <a:t>,</a:t>
            </a:r>
          </a:p>
          <a:p>
            <a:r>
              <a:rPr lang="en-IN" sz="1000" dirty="0"/>
              <a:t>        </a:t>
            </a:r>
            <a:r>
              <a:rPr lang="en-IN" sz="1000" dirty="0" err="1"/>
              <a:t>a.PurchaseDate</a:t>
            </a:r>
            <a:endParaRPr lang="en-IN" sz="1000" dirty="0"/>
          </a:p>
          <a:p>
            <a:r>
              <a:rPr lang="en-IN" sz="1000" dirty="0"/>
              <a:t>    FROM </a:t>
            </a:r>
            <a:r>
              <a:rPr lang="en-IN" sz="1000" dirty="0" err="1"/>
              <a:t>sqlproject_customertransactiondata</a:t>
            </a:r>
            <a:r>
              <a:rPr lang="en-IN" sz="1000" dirty="0"/>
              <a:t> a</a:t>
            </a:r>
          </a:p>
          <a:p>
            <a:r>
              <a:rPr lang="en-IN" sz="1000" dirty="0"/>
              <a:t>    JOIN </a:t>
            </a:r>
            <a:r>
              <a:rPr lang="en-IN" sz="1000" dirty="0" err="1"/>
              <a:t>sqlproject_customertransactiondata</a:t>
            </a:r>
            <a:r>
              <a:rPr lang="en-IN" sz="1000" dirty="0"/>
              <a:t> b</a:t>
            </a:r>
          </a:p>
          <a:p>
            <a:r>
              <a:rPr lang="en-IN" sz="1000" dirty="0"/>
              <a:t>        ON </a:t>
            </a:r>
            <a:r>
              <a:rPr lang="en-IN" sz="1000" dirty="0" err="1"/>
              <a:t>a.Cust_Id</a:t>
            </a:r>
            <a:r>
              <a:rPr lang="en-IN" sz="1000" dirty="0"/>
              <a:t> = </a:t>
            </a:r>
            <a:r>
              <a:rPr lang="en-IN" sz="1000" dirty="0" err="1"/>
              <a:t>b.Cust_Id</a:t>
            </a:r>
            <a:endParaRPr lang="en-IN" sz="1000" dirty="0"/>
          </a:p>
          <a:p>
            <a:r>
              <a:rPr lang="en-IN" sz="1000" dirty="0"/>
              <a:t>        AND </a:t>
            </a:r>
            <a:r>
              <a:rPr lang="en-IN" sz="1000" dirty="0" err="1"/>
              <a:t>a.PurchaseDate</a:t>
            </a:r>
            <a:r>
              <a:rPr lang="en-IN" sz="1000" dirty="0"/>
              <a:t> = </a:t>
            </a:r>
            <a:r>
              <a:rPr lang="en-IN" sz="1000" dirty="0" err="1"/>
              <a:t>b.PurchaseDate</a:t>
            </a:r>
            <a:endParaRPr lang="en-IN" sz="1000" dirty="0"/>
          </a:p>
          <a:p>
            <a:r>
              <a:rPr lang="en-IN" sz="1000" dirty="0"/>
              <a:t>        AND </a:t>
            </a:r>
            <a:r>
              <a:rPr lang="en-IN" sz="1000" dirty="0" err="1"/>
              <a:t>a.OrderType</a:t>
            </a:r>
            <a:r>
              <a:rPr lang="en-IN" sz="1000" dirty="0"/>
              <a:t> = </a:t>
            </a:r>
            <a:r>
              <a:rPr lang="en-IN" sz="1000" dirty="0" err="1"/>
              <a:t>b.OrderType</a:t>
            </a:r>
            <a:endParaRPr lang="en-IN" sz="1000" dirty="0"/>
          </a:p>
          <a:p>
            <a:r>
              <a:rPr lang="en-IN" sz="1000" dirty="0"/>
              <a:t>        AND </a:t>
            </a:r>
            <a:r>
              <a:rPr lang="en-IN" sz="1000" dirty="0" err="1"/>
              <a:t>a.item_id</a:t>
            </a:r>
            <a:r>
              <a:rPr lang="en-IN" sz="1000" dirty="0"/>
              <a:t> &lt;&gt; </a:t>
            </a:r>
            <a:r>
              <a:rPr lang="en-IN" sz="1000" dirty="0" err="1"/>
              <a:t>b.item_id</a:t>
            </a:r>
            <a:endParaRPr lang="en-IN" sz="1000" dirty="0"/>
          </a:p>
          <a:p>
            <a:r>
              <a:rPr lang="en-IN" sz="1000" dirty="0"/>
              <a:t>        AND </a:t>
            </a:r>
            <a:r>
              <a:rPr lang="en-IN" sz="1000" dirty="0" err="1"/>
              <a:t>a.Trans_Id</a:t>
            </a:r>
            <a:r>
              <a:rPr lang="en-IN" sz="1000" dirty="0"/>
              <a:t> &lt;&gt; </a:t>
            </a:r>
            <a:r>
              <a:rPr lang="en-IN" sz="1000" dirty="0" err="1"/>
              <a:t>b.Trans_Id</a:t>
            </a:r>
            <a:endParaRPr lang="en-IN" sz="1000" dirty="0"/>
          </a:p>
          <a:p>
            <a:r>
              <a:rPr lang="en-IN" sz="1000" dirty="0"/>
              <a:t>)</a:t>
            </a:r>
          </a:p>
          <a:p>
            <a:r>
              <a:rPr lang="en-IN" sz="1000" dirty="0"/>
              <a:t>SELECT </a:t>
            </a:r>
          </a:p>
          <a:p>
            <a:r>
              <a:rPr lang="en-IN" sz="1000" dirty="0"/>
              <a:t>    item_1,</a:t>
            </a:r>
          </a:p>
          <a:p>
            <a:r>
              <a:rPr lang="en-IN" sz="1000" dirty="0"/>
              <a:t>    item_2,</a:t>
            </a:r>
          </a:p>
          <a:p>
            <a:r>
              <a:rPr lang="en-IN" sz="1000" dirty="0"/>
              <a:t>    COUNT(*) AS </a:t>
            </a:r>
            <a:r>
              <a:rPr lang="en-IN" sz="1000" dirty="0" err="1"/>
              <a:t>combo_count</a:t>
            </a:r>
            <a:endParaRPr lang="en-IN" sz="1000" dirty="0"/>
          </a:p>
          <a:p>
            <a:r>
              <a:rPr lang="en-IN" sz="1000" dirty="0"/>
              <a:t>FROM paired</a:t>
            </a:r>
          </a:p>
          <a:p>
            <a:r>
              <a:rPr lang="en-IN" sz="1000" dirty="0"/>
              <a:t>GROUP BY item_1, item_2</a:t>
            </a:r>
          </a:p>
          <a:p>
            <a:r>
              <a:rPr lang="en-IN" sz="1000" dirty="0"/>
              <a:t>HAVING COUNT(*) &gt;= 3</a:t>
            </a:r>
          </a:p>
          <a:p>
            <a:r>
              <a:rPr lang="en-IN" sz="1000" dirty="0"/>
              <a:t>ORDER BY </a:t>
            </a:r>
            <a:r>
              <a:rPr lang="en-IN" sz="1000" dirty="0" err="1"/>
              <a:t>combo_count</a:t>
            </a:r>
            <a:r>
              <a:rPr lang="en-IN" sz="1000" dirty="0"/>
              <a:t> DESC;</a:t>
            </a:r>
          </a:p>
        </p:txBody>
      </p:sp>
    </p:spTree>
    <p:extLst>
      <p:ext uri="{BB962C8B-B14F-4D97-AF65-F5344CB8AC3E}">
        <p14:creationId xmlns:p14="http://schemas.microsoft.com/office/powerpoint/2010/main" val="2452814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5830BE8-AD2F-22C4-C63E-9EAA47A5DEBB}"/>
              </a:ext>
            </a:extLst>
          </p:cNvPr>
          <p:cNvSpPr txBox="1"/>
          <p:nvPr/>
        </p:nvSpPr>
        <p:spPr>
          <a:xfrm>
            <a:off x="157844" y="185354"/>
            <a:ext cx="6106884" cy="6355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100" dirty="0"/>
              <a:t>17 -For combinations appearing ≥3 times, identify popularity by Household / Industrial / Government sector.</a:t>
            </a:r>
          </a:p>
          <a:p>
            <a:endParaRPr lang="en-IN" sz="1100" dirty="0"/>
          </a:p>
          <a:p>
            <a:r>
              <a:rPr lang="en-IN" sz="1100" dirty="0"/>
              <a:t>Query - WITH paired AS (</a:t>
            </a:r>
          </a:p>
          <a:p>
            <a:r>
              <a:rPr lang="en-IN" sz="1100" dirty="0"/>
              <a:t>    SELECT </a:t>
            </a:r>
          </a:p>
          <a:p>
            <a:r>
              <a:rPr lang="en-IN" sz="1100" dirty="0"/>
              <a:t>        LEAST(</a:t>
            </a:r>
            <a:r>
              <a:rPr lang="en-IN" sz="1100" dirty="0" err="1"/>
              <a:t>a.item_id</a:t>
            </a:r>
            <a:r>
              <a:rPr lang="en-IN" sz="1100" dirty="0"/>
              <a:t>, </a:t>
            </a:r>
            <a:r>
              <a:rPr lang="en-IN" sz="1100" dirty="0" err="1"/>
              <a:t>b.item_id</a:t>
            </a:r>
            <a:r>
              <a:rPr lang="en-IN" sz="1100" dirty="0"/>
              <a:t>) AS item_1,</a:t>
            </a:r>
          </a:p>
          <a:p>
            <a:r>
              <a:rPr lang="en-IN" sz="1100" dirty="0"/>
              <a:t>        GREATEST(</a:t>
            </a:r>
            <a:r>
              <a:rPr lang="en-IN" sz="1100" dirty="0" err="1"/>
              <a:t>a.item_id</a:t>
            </a:r>
            <a:r>
              <a:rPr lang="en-IN" sz="1100" dirty="0"/>
              <a:t>, </a:t>
            </a:r>
            <a:r>
              <a:rPr lang="en-IN" sz="1100" dirty="0" err="1"/>
              <a:t>b.item_id</a:t>
            </a:r>
            <a:r>
              <a:rPr lang="en-IN" sz="1100" dirty="0"/>
              <a:t>) AS item_2,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a.Cust_Id</a:t>
            </a:r>
            <a:r>
              <a:rPr lang="en-IN" sz="1100" dirty="0"/>
              <a:t>,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a.PurchaseDate</a:t>
            </a:r>
            <a:r>
              <a:rPr lang="en-IN" sz="1100" dirty="0"/>
              <a:t>,</a:t>
            </a:r>
          </a:p>
          <a:p>
            <a:r>
              <a:rPr lang="en-IN" sz="1100" dirty="0"/>
              <a:t>        </a:t>
            </a:r>
            <a:r>
              <a:rPr lang="en-IN" sz="1100" dirty="0" err="1"/>
              <a:t>a.OrderType</a:t>
            </a:r>
            <a:endParaRPr lang="en-IN" sz="1100" dirty="0"/>
          </a:p>
          <a:p>
            <a:r>
              <a:rPr lang="en-IN" sz="1100" dirty="0"/>
              <a:t>    FROM </a:t>
            </a:r>
            <a:r>
              <a:rPr lang="en-IN" sz="1100" dirty="0" err="1"/>
              <a:t>sqlproject_customertransactiondata</a:t>
            </a:r>
            <a:r>
              <a:rPr lang="en-IN" sz="1100" dirty="0"/>
              <a:t> a</a:t>
            </a:r>
          </a:p>
          <a:p>
            <a:r>
              <a:rPr lang="en-IN" sz="1100" dirty="0"/>
              <a:t>    JOIN </a:t>
            </a:r>
            <a:r>
              <a:rPr lang="en-IN" sz="1100" dirty="0" err="1"/>
              <a:t>sqlproject_customertransactiondata</a:t>
            </a:r>
            <a:r>
              <a:rPr lang="en-IN" sz="1100" dirty="0"/>
              <a:t> b</a:t>
            </a:r>
          </a:p>
          <a:p>
            <a:r>
              <a:rPr lang="en-IN" sz="1100" dirty="0"/>
              <a:t>        ON </a:t>
            </a:r>
            <a:r>
              <a:rPr lang="en-IN" sz="1100" dirty="0" err="1"/>
              <a:t>a.Cust_Id</a:t>
            </a:r>
            <a:r>
              <a:rPr lang="en-IN" sz="1100" dirty="0"/>
              <a:t> = </a:t>
            </a:r>
            <a:r>
              <a:rPr lang="en-IN" sz="1100" dirty="0" err="1"/>
              <a:t>b.Cust_Id</a:t>
            </a:r>
            <a:endParaRPr lang="en-IN" sz="1100" dirty="0"/>
          </a:p>
          <a:p>
            <a:r>
              <a:rPr lang="en-IN" sz="1100" dirty="0"/>
              <a:t>        AND </a:t>
            </a:r>
            <a:r>
              <a:rPr lang="en-IN" sz="1100" dirty="0" err="1"/>
              <a:t>a.PurchaseDate</a:t>
            </a:r>
            <a:r>
              <a:rPr lang="en-IN" sz="1100" dirty="0"/>
              <a:t> = </a:t>
            </a:r>
            <a:r>
              <a:rPr lang="en-IN" sz="1100" dirty="0" err="1"/>
              <a:t>b.PurchaseDate</a:t>
            </a:r>
            <a:endParaRPr lang="en-IN" sz="1100" dirty="0"/>
          </a:p>
          <a:p>
            <a:r>
              <a:rPr lang="en-IN" sz="1100" dirty="0"/>
              <a:t>        AND </a:t>
            </a:r>
            <a:r>
              <a:rPr lang="en-IN" sz="1100" dirty="0" err="1"/>
              <a:t>a.OrderType</a:t>
            </a:r>
            <a:r>
              <a:rPr lang="en-IN" sz="1100" dirty="0"/>
              <a:t> = </a:t>
            </a:r>
            <a:r>
              <a:rPr lang="en-IN" sz="1100" dirty="0" err="1"/>
              <a:t>b.OrderType</a:t>
            </a:r>
            <a:endParaRPr lang="en-IN" sz="1100" dirty="0"/>
          </a:p>
          <a:p>
            <a:r>
              <a:rPr lang="en-IN" sz="1100" dirty="0"/>
              <a:t>        AND </a:t>
            </a:r>
            <a:r>
              <a:rPr lang="en-IN" sz="1100" dirty="0" err="1"/>
              <a:t>a.item_id</a:t>
            </a:r>
            <a:r>
              <a:rPr lang="en-IN" sz="1100" dirty="0"/>
              <a:t> &lt;&gt; </a:t>
            </a:r>
            <a:r>
              <a:rPr lang="en-IN" sz="1100" dirty="0" err="1"/>
              <a:t>b.item_id</a:t>
            </a:r>
            <a:endParaRPr lang="en-IN" sz="1100" dirty="0"/>
          </a:p>
          <a:p>
            <a:r>
              <a:rPr lang="en-IN" sz="1100" dirty="0"/>
              <a:t>        AND </a:t>
            </a:r>
            <a:r>
              <a:rPr lang="en-IN" sz="1100" dirty="0" err="1"/>
              <a:t>a.Trans_Id</a:t>
            </a:r>
            <a:r>
              <a:rPr lang="en-IN" sz="1100" dirty="0"/>
              <a:t> &lt;&gt; </a:t>
            </a:r>
            <a:r>
              <a:rPr lang="en-IN" sz="1100" dirty="0" err="1"/>
              <a:t>b.Trans_Id</a:t>
            </a:r>
            <a:endParaRPr lang="en-IN" sz="1100" dirty="0"/>
          </a:p>
          <a:p>
            <a:r>
              <a:rPr lang="en-IN" sz="1100" dirty="0"/>
              <a:t>),</a:t>
            </a:r>
          </a:p>
          <a:p>
            <a:r>
              <a:rPr lang="en-IN" sz="1100" dirty="0" err="1"/>
              <a:t>top_combos</a:t>
            </a:r>
            <a:r>
              <a:rPr lang="en-IN" sz="1100" dirty="0"/>
              <a:t> AS (</a:t>
            </a:r>
          </a:p>
          <a:p>
            <a:r>
              <a:rPr lang="en-IN" sz="1100" dirty="0"/>
              <a:t>    SELECT </a:t>
            </a:r>
          </a:p>
          <a:p>
            <a:r>
              <a:rPr lang="en-IN" sz="1100" dirty="0"/>
              <a:t>        item_1, item_2</a:t>
            </a:r>
          </a:p>
          <a:p>
            <a:r>
              <a:rPr lang="en-IN" sz="1100" dirty="0"/>
              <a:t>    FROM paired</a:t>
            </a:r>
          </a:p>
          <a:p>
            <a:r>
              <a:rPr lang="en-IN" sz="1100" dirty="0"/>
              <a:t>    GROUP BY item_1, item_2</a:t>
            </a:r>
          </a:p>
          <a:p>
            <a:r>
              <a:rPr lang="en-IN" sz="1100" dirty="0"/>
              <a:t>    HAVING COUNT(*) &gt;= 3</a:t>
            </a:r>
          </a:p>
          <a:p>
            <a:r>
              <a:rPr lang="en-IN" sz="1100" dirty="0"/>
              <a:t>)</a:t>
            </a:r>
          </a:p>
          <a:p>
            <a:r>
              <a:rPr lang="en-IN" sz="1100" dirty="0"/>
              <a:t>SELECT </a:t>
            </a:r>
          </a:p>
          <a:p>
            <a:r>
              <a:rPr lang="en-IN" sz="1100" dirty="0"/>
              <a:t>    p.item_1,</a:t>
            </a:r>
          </a:p>
          <a:p>
            <a:r>
              <a:rPr lang="en-IN" sz="1100" dirty="0"/>
              <a:t>    p.item_2,</a:t>
            </a:r>
          </a:p>
          <a:p>
            <a:r>
              <a:rPr lang="en-IN" sz="1100" dirty="0"/>
              <a:t>    </a:t>
            </a:r>
            <a:r>
              <a:rPr lang="en-IN" sz="1100" dirty="0" err="1"/>
              <a:t>p.OrderType</a:t>
            </a:r>
            <a:r>
              <a:rPr lang="en-IN" sz="1100" dirty="0"/>
              <a:t>,</a:t>
            </a:r>
          </a:p>
          <a:p>
            <a:r>
              <a:rPr lang="en-IN" sz="1100" dirty="0"/>
              <a:t>    COUNT(*) AS </a:t>
            </a:r>
            <a:r>
              <a:rPr lang="en-IN" sz="1100" dirty="0" err="1"/>
              <a:t>sector_count</a:t>
            </a:r>
            <a:endParaRPr lang="en-IN" sz="1100" dirty="0"/>
          </a:p>
          <a:p>
            <a:r>
              <a:rPr lang="en-IN" sz="1100" dirty="0"/>
              <a:t>FROM paired p</a:t>
            </a:r>
          </a:p>
          <a:p>
            <a:r>
              <a:rPr lang="en-IN" sz="1100" dirty="0"/>
              <a:t>JOIN </a:t>
            </a:r>
            <a:r>
              <a:rPr lang="en-IN" sz="1100" dirty="0" err="1"/>
              <a:t>top_combos</a:t>
            </a:r>
            <a:r>
              <a:rPr lang="en-IN" sz="1100" dirty="0"/>
              <a:t> t</a:t>
            </a:r>
          </a:p>
          <a:p>
            <a:r>
              <a:rPr lang="en-IN" sz="1100" dirty="0"/>
              <a:t>    ON p.item_1 = t.item_1</a:t>
            </a:r>
          </a:p>
          <a:p>
            <a:r>
              <a:rPr lang="en-IN" sz="1100" dirty="0"/>
              <a:t>    AND p.item_2 = t.item_2</a:t>
            </a:r>
          </a:p>
          <a:p>
            <a:r>
              <a:rPr lang="en-IN" sz="1100" dirty="0"/>
              <a:t>GROUP BY p.item_1, p.item_2, </a:t>
            </a:r>
            <a:r>
              <a:rPr lang="en-IN" sz="1100" dirty="0" err="1"/>
              <a:t>p.OrderType</a:t>
            </a:r>
            <a:endParaRPr lang="en-IN" sz="1100" dirty="0"/>
          </a:p>
          <a:p>
            <a:r>
              <a:rPr lang="en-IN" sz="1100" dirty="0"/>
              <a:t>ORDER BY p.item_1, p.item_2, </a:t>
            </a:r>
            <a:r>
              <a:rPr lang="en-IN" sz="1100" dirty="0" err="1"/>
              <a:t>sector_count</a:t>
            </a:r>
            <a:r>
              <a:rPr lang="en-IN" sz="1100" dirty="0"/>
              <a:t> DESC;</a:t>
            </a:r>
          </a:p>
          <a:p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806277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36915f3-2f02-4945-8997-f2963298db46}" enabled="1" method="Standard" siteId="{cd99fef8-1cd3-4a2a-9bdf-15531181d65e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2945</Words>
  <Application>Microsoft Office PowerPoint</Application>
  <PresentationFormat>Widescreen</PresentationFormat>
  <Paragraphs>545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Aptos Narrow</vt:lpstr>
      <vt:lpstr>Arial</vt:lpstr>
      <vt:lpstr>Courier New</vt:lpstr>
      <vt:lpstr>Delivery</vt:lpstr>
      <vt:lpstr>Office Theme</vt:lpstr>
      <vt:lpstr>Market Campaign Analysis</vt:lpstr>
      <vt:lpstr>Problem Statement &amp; Objective</vt:lpstr>
      <vt:lpstr>Data Overview</vt:lpstr>
      <vt:lpstr>Sales Insights</vt:lpstr>
      <vt:lpstr>PowerPoint Presentation</vt:lpstr>
      <vt:lpstr>Lead Conversions</vt:lpstr>
      <vt:lpstr>Campaign Effectiveness Analysis – Key Insights</vt:lpstr>
      <vt:lpstr>Company growth and decline</vt:lpstr>
      <vt:lpstr>PowerPoint Presentation</vt:lpstr>
      <vt:lpstr>Do We Need to Launch a New Campaign?</vt:lpstr>
      <vt:lpstr>Market Basket Analysis</vt:lpstr>
      <vt:lpstr>Which Product Pair Should Be Promoted?</vt:lpstr>
      <vt:lpstr>Annexure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DHL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Salwe (DHL Supply Chain)</dc:creator>
  <cp:lastModifiedBy>Prasad Salwe (DHL Supply Chain)</cp:lastModifiedBy>
  <cp:revision>9</cp:revision>
  <dcterms:created xsi:type="dcterms:W3CDTF">2025-11-20T17:39:05Z</dcterms:created>
  <dcterms:modified xsi:type="dcterms:W3CDTF">2025-11-20T21:21:28Z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FOR INTERNAL USE</vt:lpwstr>
  </property>
</Properties>
</file>